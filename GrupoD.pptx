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7"/>
  </p:notesMasterIdLst>
  <p:sldIdLst>
    <p:sldId id="256" r:id="rId2"/>
    <p:sldId id="257" r:id="rId3"/>
    <p:sldId id="298" r:id="rId4"/>
    <p:sldId id="258" r:id="rId5"/>
    <p:sldId id="260" r:id="rId6"/>
    <p:sldId id="290" r:id="rId7"/>
    <p:sldId id="289" r:id="rId8"/>
    <p:sldId id="291" r:id="rId9"/>
    <p:sldId id="293" r:id="rId10"/>
    <p:sldId id="281" r:id="rId11"/>
    <p:sldId id="261" r:id="rId12"/>
    <p:sldId id="282" r:id="rId13"/>
    <p:sldId id="284" r:id="rId14"/>
    <p:sldId id="285" r:id="rId15"/>
    <p:sldId id="283" r:id="rId16"/>
    <p:sldId id="263" r:id="rId17"/>
    <p:sldId id="264" r:id="rId18"/>
    <p:sldId id="286" r:id="rId19"/>
    <p:sldId id="287" r:id="rId20"/>
    <p:sldId id="288" r:id="rId21"/>
    <p:sldId id="265" r:id="rId22"/>
    <p:sldId id="266" r:id="rId23"/>
    <p:sldId id="279" r:id="rId24"/>
    <p:sldId id="295" r:id="rId25"/>
    <p:sldId id="268" r:id="rId26"/>
    <p:sldId id="297" r:id="rId27"/>
    <p:sldId id="296" r:id="rId28"/>
    <p:sldId id="294" r:id="rId29"/>
    <p:sldId id="269" r:id="rId30"/>
    <p:sldId id="270" r:id="rId31"/>
    <p:sldId id="271" r:id="rId32"/>
    <p:sldId id="272" r:id="rId33"/>
    <p:sldId id="273" r:id="rId34"/>
    <p:sldId id="280" r:id="rId35"/>
    <p:sldId id="275" r:id="rId36"/>
  </p:sldIdLst>
  <p:sldSz cx="12192000" cy="6858000"/>
  <p:notesSz cx="6858000" cy="9144000"/>
  <p:embeddedFontLst>
    <p:embeddedFont>
      <p:font typeface="Play" panose="020B0604020202020204" charset="0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64">
          <p15:clr>
            <a:srgbClr val="A4A3A4"/>
          </p15:clr>
        </p15:guide>
        <p15:guide id="2" pos="1867">
          <p15:clr>
            <a:srgbClr val="A4A3A4"/>
          </p15:clr>
        </p15:guide>
        <p15:guide id="3" pos="234">
          <p15:clr>
            <a:srgbClr val="A4A3A4"/>
          </p15:clr>
        </p15:guide>
        <p15:guide id="4" pos="2094">
          <p15:clr>
            <a:srgbClr val="A4A3A4"/>
          </p15:clr>
        </p15:guide>
        <p15:guide id="5" pos="7446">
          <p15:clr>
            <a:srgbClr val="A4A3A4"/>
          </p15:clr>
        </p15:guide>
        <p15:guide id="6" pos="3727">
          <p15:clr>
            <a:srgbClr val="A4A3A4"/>
          </p15:clr>
        </p15:guide>
        <p15:guide id="7" pos="3953">
          <p15:clr>
            <a:srgbClr val="A4A3A4"/>
          </p15:clr>
        </p15:guide>
        <p15:guide id="8" pos="5564">
          <p15:clr>
            <a:srgbClr val="A4A3A4"/>
          </p15:clr>
        </p15:guide>
        <p15:guide id="9" pos="5813">
          <p15:clr>
            <a:srgbClr val="A4A3A4"/>
          </p15:clr>
        </p15:guide>
        <p15:guide id="10" orient="horz" pos="4110">
          <p15:clr>
            <a:srgbClr val="A4A3A4"/>
          </p15:clr>
        </p15:guide>
        <p15:guide id="11" orient="horz" pos="391">
          <p15:clr>
            <a:srgbClr val="A4A3A4"/>
          </p15:clr>
        </p15:guide>
        <p15:guide id="12" orient="horz" pos="1570">
          <p15:clr>
            <a:srgbClr val="A4A3A4"/>
          </p15:clr>
        </p15:guide>
        <p15:guide id="13" pos="529">
          <p15:clr>
            <a:srgbClr val="A4A3A4"/>
          </p15:clr>
        </p15:guide>
        <p15:guide id="14" orient="horz" pos="19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C6AA"/>
    <a:srgbClr val="F6EFE6"/>
    <a:srgbClr val="FF896D"/>
    <a:srgbClr val="FFCDC1"/>
    <a:srgbClr val="E4D1BA"/>
    <a:srgbClr val="EADBC8"/>
    <a:srgbClr val="AFC8AD"/>
    <a:srgbClr val="9AC8CD"/>
    <a:srgbClr val="A0D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76A530-D8F9-465D-961C-BEE2571D8FAA}">
  <a:tblStyle styleId="{F476A530-D8F9-465D-961C-BEE2571D8F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65BD0AB-35EC-46CF-8008-AF1E710A26E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01B821-A1FF-4177-AEE7-76D212191A09}" styleName="Estilo Médio 1 - Destaqu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Estilo Claro 1 - Destaqu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78"/>
      </p:cViewPr>
      <p:guideLst>
        <p:guide orient="horz" pos="2364"/>
        <p:guide pos="1867"/>
        <p:guide pos="234"/>
        <p:guide pos="2094"/>
        <p:guide pos="7446"/>
        <p:guide pos="3727"/>
        <p:guide pos="3953"/>
        <p:guide pos="5564"/>
        <p:guide pos="5813"/>
        <p:guide orient="horz" pos="4110"/>
        <p:guide orient="horz" pos="391"/>
        <p:guide orient="horz" pos="1570"/>
        <p:guide pos="529"/>
        <p:guide orient="horz" pos="19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a Moreira" userId="5c817c5b42600b68" providerId="LiveId" clId="{A97D6C6A-8FB9-464F-B6B0-F6AE14AF0B06}"/>
    <pc:docChg chg="modSld">
      <pc:chgData name="Rita Moreira" userId="5c817c5b42600b68" providerId="LiveId" clId="{A97D6C6A-8FB9-464F-B6B0-F6AE14AF0B06}" dt="2024-05-31T19:24:53.204" v="14" actId="14734"/>
      <pc:docMkLst>
        <pc:docMk/>
      </pc:docMkLst>
      <pc:sldChg chg="modSp mod">
        <pc:chgData name="Rita Moreira" userId="5c817c5b42600b68" providerId="LiveId" clId="{A97D6C6A-8FB9-464F-B6B0-F6AE14AF0B06}" dt="2024-05-31T19:24:36.660" v="12" actId="20577"/>
        <pc:sldMkLst>
          <pc:docMk/>
          <pc:sldMk cId="0" sldId="272"/>
        </pc:sldMkLst>
        <pc:spChg chg="mod">
          <ac:chgData name="Rita Moreira" userId="5c817c5b42600b68" providerId="LiveId" clId="{A97D6C6A-8FB9-464F-B6B0-F6AE14AF0B06}" dt="2024-05-31T19:24:36.660" v="12" actId="20577"/>
          <ac:spMkLst>
            <pc:docMk/>
            <pc:sldMk cId="0" sldId="272"/>
            <ac:spMk id="268" creationId="{00000000-0000-0000-0000-000000000000}"/>
          </ac:spMkLst>
        </pc:spChg>
      </pc:sldChg>
      <pc:sldChg chg="modSp mod">
        <pc:chgData name="Rita Moreira" userId="5c817c5b42600b68" providerId="LiveId" clId="{A97D6C6A-8FB9-464F-B6B0-F6AE14AF0B06}" dt="2024-05-31T19:24:53.204" v="14" actId="14734"/>
        <pc:sldMkLst>
          <pc:docMk/>
          <pc:sldMk cId="4187665041" sldId="280"/>
        </pc:sldMkLst>
        <pc:graphicFrameChg chg="modGraphic">
          <ac:chgData name="Rita Moreira" userId="5c817c5b42600b68" providerId="LiveId" clId="{A97D6C6A-8FB9-464F-B6B0-F6AE14AF0B06}" dt="2024-05-31T19:24:53.204" v="14" actId="14734"/>
          <ac:graphicFrameMkLst>
            <pc:docMk/>
            <pc:sldMk cId="4187665041" sldId="280"/>
            <ac:graphicFrameMk id="3" creationId="{B9966AA5-4AFE-B2C2-5B2E-2FC704E2401D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8FBA51-BDBA-470F-B5A1-C6544EFB5098}" type="doc">
      <dgm:prSet loTypeId="urn:microsoft.com/office/officeart/2009/3/layout/Descending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21FC4FA2-ADF7-41B1-BAFA-8FE4F601C06E}">
      <dgm:prSet phldrT="[Texto]" custT="1"/>
      <dgm:spPr/>
      <dgm:t>
        <a:bodyPr/>
        <a:lstStyle/>
        <a:p>
          <a:pPr>
            <a:buClr>
              <a:schemeClr val="lt1"/>
            </a:buClr>
            <a:buSzPts val="1400"/>
            <a:buFont typeface="Arial"/>
            <a:buNone/>
          </a:pPr>
          <a:r>
            <a:rPr lang="pt-PT" sz="1400" dirty="0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</a:rPr>
            <a:t>15 variáveis e </a:t>
          </a:r>
        </a:p>
        <a:p>
          <a:pPr>
            <a:buClr>
              <a:schemeClr val="lt1"/>
            </a:buClr>
            <a:buSzPts val="1400"/>
            <a:buFont typeface="Arial"/>
            <a:buNone/>
          </a:pPr>
          <a:r>
            <a:rPr lang="pt-PT" sz="1400" dirty="0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</a:rPr>
            <a:t>18835 observações</a:t>
          </a:r>
          <a:endParaRPr lang="pt-PT" sz="1400" dirty="0"/>
        </a:p>
      </dgm:t>
    </dgm:pt>
    <dgm:pt modelId="{1CB211C0-2C20-4108-9343-B017F50D5E3B}" type="parTrans" cxnId="{D10CD990-63FE-436A-B167-ADD6352D7DC1}">
      <dgm:prSet/>
      <dgm:spPr/>
      <dgm:t>
        <a:bodyPr/>
        <a:lstStyle/>
        <a:p>
          <a:endParaRPr lang="pt-PT"/>
        </a:p>
      </dgm:t>
    </dgm:pt>
    <dgm:pt modelId="{E1E358D5-7567-4457-B94F-5A0AC2B6527D}" type="sibTrans" cxnId="{D10CD990-63FE-436A-B167-ADD6352D7DC1}">
      <dgm:prSet/>
      <dgm:spPr/>
      <dgm:t>
        <a:bodyPr/>
        <a:lstStyle/>
        <a:p>
          <a:endParaRPr lang="pt-PT"/>
        </a:p>
      </dgm:t>
    </dgm:pt>
    <dgm:pt modelId="{636838FB-D716-4673-8206-47287F01B8AA}">
      <dgm:prSet phldrT="[Texto]" custT="1"/>
      <dgm:spPr/>
      <dgm:t>
        <a:bodyPr/>
        <a:lstStyle/>
        <a:p>
          <a:r>
            <a:rPr lang="pt-PT" sz="1400" dirty="0"/>
            <a:t>Remoção de observações duplicadas</a:t>
          </a:r>
        </a:p>
      </dgm:t>
    </dgm:pt>
    <dgm:pt modelId="{F708E609-37DE-4358-8A45-D06BFBB53F9D}" type="parTrans" cxnId="{769608DE-E99A-441A-BD0F-B2DA2B19F6D5}">
      <dgm:prSet/>
      <dgm:spPr/>
      <dgm:t>
        <a:bodyPr/>
        <a:lstStyle/>
        <a:p>
          <a:endParaRPr lang="pt-PT"/>
        </a:p>
      </dgm:t>
    </dgm:pt>
    <dgm:pt modelId="{A8734BE4-B302-40F4-ADDF-FD945844E055}" type="sibTrans" cxnId="{769608DE-E99A-441A-BD0F-B2DA2B19F6D5}">
      <dgm:prSet/>
      <dgm:spPr>
        <a:solidFill>
          <a:srgbClr val="DEC6AA"/>
        </a:solidFill>
      </dgm:spPr>
      <dgm:t>
        <a:bodyPr/>
        <a:lstStyle/>
        <a:p>
          <a:endParaRPr lang="pt-PT"/>
        </a:p>
      </dgm:t>
    </dgm:pt>
    <dgm:pt modelId="{B4B3A722-89A7-4550-87BD-B4F460B33E71}">
      <dgm:prSet phldrT="[Texto]" custT="1"/>
      <dgm:spPr/>
      <dgm:t>
        <a:bodyPr/>
        <a:lstStyle/>
        <a:p>
          <a:r>
            <a:rPr lang="pt-PT" sz="1400" dirty="0"/>
            <a:t>Análise de </a:t>
          </a:r>
          <a:r>
            <a:rPr lang="pt-PT" sz="1400" dirty="0" err="1"/>
            <a:t>multicolinearidade</a:t>
          </a:r>
          <a:r>
            <a:rPr lang="pt-PT" sz="1400" dirty="0"/>
            <a:t> </a:t>
          </a:r>
          <a:r>
            <a:rPr lang="en-US" sz="1400" dirty="0">
              <a:solidFill>
                <a:schemeClr val="dk1"/>
              </a:solidFill>
            </a:rPr>
            <a:t>e </a:t>
          </a:r>
          <a:r>
            <a:rPr lang="en-US" sz="1400" dirty="0" err="1">
              <a:solidFill>
                <a:schemeClr val="dk1"/>
              </a:solidFill>
            </a:rPr>
            <a:t>correlação</a:t>
          </a:r>
          <a:r>
            <a:rPr lang="en-US" sz="1400" dirty="0">
              <a:solidFill>
                <a:schemeClr val="dk1"/>
              </a:solidFill>
            </a:rPr>
            <a:t> entre </a:t>
          </a:r>
          <a:r>
            <a:rPr lang="en-US" sz="1400" dirty="0" err="1">
              <a:solidFill>
                <a:schemeClr val="dk1"/>
              </a:solidFill>
            </a:rPr>
            <a:t>variáveis</a:t>
          </a:r>
          <a:endParaRPr lang="pt-PT" sz="1400" dirty="0"/>
        </a:p>
      </dgm:t>
    </dgm:pt>
    <dgm:pt modelId="{B828DF4B-77F4-447B-8560-5D13C5817FF3}" type="parTrans" cxnId="{3427A48A-180D-40DC-AE9B-F87255659287}">
      <dgm:prSet/>
      <dgm:spPr/>
      <dgm:t>
        <a:bodyPr/>
        <a:lstStyle/>
        <a:p>
          <a:endParaRPr lang="pt-PT"/>
        </a:p>
      </dgm:t>
    </dgm:pt>
    <dgm:pt modelId="{EF2F2727-BF24-4598-8B13-CE8D69F96C2D}" type="sibTrans" cxnId="{3427A48A-180D-40DC-AE9B-F87255659287}">
      <dgm:prSet/>
      <dgm:spPr>
        <a:solidFill>
          <a:srgbClr val="DEC6AA"/>
        </a:solidFill>
      </dgm:spPr>
      <dgm:t>
        <a:bodyPr/>
        <a:lstStyle/>
        <a:p>
          <a:endParaRPr lang="pt-PT"/>
        </a:p>
      </dgm:t>
    </dgm:pt>
    <dgm:pt modelId="{6BCB9B42-FA73-4A2B-B312-D155BC228DE5}">
      <dgm:prSet phldrT="[Texto]" custT="1"/>
      <dgm:spPr/>
      <dgm:t>
        <a:bodyPr/>
        <a:lstStyle/>
        <a:p>
          <a:r>
            <a:rPr lang="pt-PT" sz="1400" dirty="0"/>
            <a:t>Seleção das variáveis significativas com step-</a:t>
          </a:r>
          <a:r>
            <a:rPr lang="pt-PT" sz="1400" dirty="0" err="1"/>
            <a:t>wise</a:t>
          </a:r>
          <a:endParaRPr lang="pt-PT" sz="1400" dirty="0"/>
        </a:p>
      </dgm:t>
    </dgm:pt>
    <dgm:pt modelId="{8184091C-F7E1-4A38-976C-15BAAB6CD48E}" type="parTrans" cxnId="{3F8275C7-208F-4B57-8C50-EF6A3BB06658}">
      <dgm:prSet/>
      <dgm:spPr/>
      <dgm:t>
        <a:bodyPr/>
        <a:lstStyle/>
        <a:p>
          <a:endParaRPr lang="pt-PT"/>
        </a:p>
      </dgm:t>
    </dgm:pt>
    <dgm:pt modelId="{E5D5F389-9E46-4EF9-A4E7-BD67DA899BA1}" type="sibTrans" cxnId="{3F8275C7-208F-4B57-8C50-EF6A3BB06658}">
      <dgm:prSet/>
      <dgm:spPr>
        <a:solidFill>
          <a:srgbClr val="DEC6AA"/>
        </a:solidFill>
      </dgm:spPr>
      <dgm:t>
        <a:bodyPr/>
        <a:lstStyle/>
        <a:p>
          <a:endParaRPr lang="pt-PT"/>
        </a:p>
      </dgm:t>
    </dgm:pt>
    <dgm:pt modelId="{E4DD7D8E-015E-48CE-B6F3-AD365535FEBA}">
      <dgm:prSet phldrT="[Texto]" custT="1"/>
      <dgm:spPr/>
      <dgm:t>
        <a:bodyPr/>
        <a:lstStyle/>
        <a:p>
          <a:pPr>
            <a:buClr>
              <a:schemeClr val="lt1"/>
            </a:buClr>
            <a:buSzPts val="1400"/>
            <a:buFont typeface="Arial"/>
            <a:buNone/>
          </a:pPr>
          <a:r>
            <a:rPr lang="pt-PT" sz="1400" dirty="0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</a:rPr>
            <a:t>10 variáveis e </a:t>
          </a:r>
        </a:p>
        <a:p>
          <a:pPr>
            <a:buClr>
              <a:schemeClr val="lt1"/>
            </a:buClr>
            <a:buSzPts val="1400"/>
            <a:buFont typeface="Arial"/>
            <a:buNone/>
          </a:pPr>
          <a:r>
            <a:rPr lang="pt-PT" sz="1400" dirty="0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</a:rPr>
            <a:t>14924 observações</a:t>
          </a:r>
          <a:endParaRPr lang="pt-PT" sz="1400" dirty="0"/>
        </a:p>
      </dgm:t>
    </dgm:pt>
    <dgm:pt modelId="{2B4A2A65-11AF-4839-BB74-50B877CD5993}" type="parTrans" cxnId="{A16FA050-8090-446B-BD65-9D7B2CD8CBC3}">
      <dgm:prSet/>
      <dgm:spPr/>
      <dgm:t>
        <a:bodyPr/>
        <a:lstStyle/>
        <a:p>
          <a:endParaRPr lang="pt-PT"/>
        </a:p>
      </dgm:t>
    </dgm:pt>
    <dgm:pt modelId="{40B077CC-1B54-4FD6-9931-4A2C2143F0A3}" type="sibTrans" cxnId="{A16FA050-8090-446B-BD65-9D7B2CD8CBC3}">
      <dgm:prSet/>
      <dgm:spPr/>
      <dgm:t>
        <a:bodyPr/>
        <a:lstStyle/>
        <a:p>
          <a:endParaRPr lang="pt-PT"/>
        </a:p>
      </dgm:t>
    </dgm:pt>
    <dgm:pt modelId="{64F889C3-9185-4D93-B343-BE1D60759525}" type="pres">
      <dgm:prSet presAssocID="{C98FBA51-BDBA-470F-B5A1-C6544EFB5098}" presName="Name0" presStyleCnt="0">
        <dgm:presLayoutVars>
          <dgm:chMax val="7"/>
          <dgm:chPref val="5"/>
        </dgm:presLayoutVars>
      </dgm:prSet>
      <dgm:spPr/>
    </dgm:pt>
    <dgm:pt modelId="{FC1F9E9D-9A6D-4445-A22C-C904B08AA6B1}" type="pres">
      <dgm:prSet presAssocID="{C98FBA51-BDBA-470F-B5A1-C6544EFB5098}" presName="arrowNode" presStyleLbl="node1" presStyleIdx="0" presStyleCnt="1"/>
      <dgm:spPr>
        <a:solidFill>
          <a:srgbClr val="F6EFE6"/>
        </a:solidFill>
        <a:ln>
          <a:solidFill>
            <a:srgbClr val="E4D1BA"/>
          </a:solidFill>
        </a:ln>
      </dgm:spPr>
    </dgm:pt>
    <dgm:pt modelId="{F8ED98A6-0E23-4BB2-ACA8-99A9219F8509}" type="pres">
      <dgm:prSet presAssocID="{21FC4FA2-ADF7-41B1-BAFA-8FE4F601C06E}" presName="txNode1" presStyleLbl="revTx" presStyleIdx="0" presStyleCnt="5">
        <dgm:presLayoutVars>
          <dgm:bulletEnabled val="1"/>
        </dgm:presLayoutVars>
      </dgm:prSet>
      <dgm:spPr/>
    </dgm:pt>
    <dgm:pt modelId="{A33FF154-39AD-4BAA-A7F2-183D8125BAF2}" type="pres">
      <dgm:prSet presAssocID="{636838FB-D716-4673-8206-47287F01B8AA}" presName="txNode2" presStyleLbl="revTx" presStyleIdx="1" presStyleCnt="5" custScaleX="99557">
        <dgm:presLayoutVars>
          <dgm:bulletEnabled val="1"/>
        </dgm:presLayoutVars>
      </dgm:prSet>
      <dgm:spPr/>
    </dgm:pt>
    <dgm:pt modelId="{B2813FD1-9135-41C2-96C3-A2B10649C139}" type="pres">
      <dgm:prSet presAssocID="{A8734BE4-B302-40F4-ADDF-FD945844E055}" presName="dotNode2" presStyleCnt="0"/>
      <dgm:spPr/>
    </dgm:pt>
    <dgm:pt modelId="{92D44C38-0A2A-42C4-97E3-8EF8B5C28271}" type="pres">
      <dgm:prSet presAssocID="{A8734BE4-B302-40F4-ADDF-FD945844E055}" presName="dotRepeatNode" presStyleLbl="fgShp" presStyleIdx="0" presStyleCnt="3"/>
      <dgm:spPr/>
    </dgm:pt>
    <dgm:pt modelId="{B87ACB8D-D8F7-4164-A79E-90513B2A7B2A}" type="pres">
      <dgm:prSet presAssocID="{B4B3A722-89A7-4550-87BD-B4F460B33E71}" presName="txNode3" presStyleLbl="revTx" presStyleIdx="2" presStyleCnt="5">
        <dgm:presLayoutVars>
          <dgm:bulletEnabled val="1"/>
        </dgm:presLayoutVars>
      </dgm:prSet>
      <dgm:spPr/>
    </dgm:pt>
    <dgm:pt modelId="{8DA04186-8B79-498B-8543-1E184E770909}" type="pres">
      <dgm:prSet presAssocID="{EF2F2727-BF24-4598-8B13-CE8D69F96C2D}" presName="dotNode3" presStyleCnt="0"/>
      <dgm:spPr/>
    </dgm:pt>
    <dgm:pt modelId="{418A7399-FA42-4CAC-8D4E-0D8390BA73FD}" type="pres">
      <dgm:prSet presAssocID="{EF2F2727-BF24-4598-8B13-CE8D69F96C2D}" presName="dotRepeatNode" presStyleLbl="fgShp" presStyleIdx="1" presStyleCnt="3"/>
      <dgm:spPr/>
    </dgm:pt>
    <dgm:pt modelId="{F2340480-C133-420A-9C55-3D6BD1485CF5}" type="pres">
      <dgm:prSet presAssocID="{6BCB9B42-FA73-4A2B-B312-D155BC228DE5}" presName="txNode4" presStyleLbl="revTx" presStyleIdx="3" presStyleCnt="5">
        <dgm:presLayoutVars>
          <dgm:bulletEnabled val="1"/>
        </dgm:presLayoutVars>
      </dgm:prSet>
      <dgm:spPr/>
    </dgm:pt>
    <dgm:pt modelId="{9F939628-1FA4-4E76-AD8B-719DB5BB524D}" type="pres">
      <dgm:prSet presAssocID="{E5D5F389-9E46-4EF9-A4E7-BD67DA899BA1}" presName="dotNode4" presStyleCnt="0"/>
      <dgm:spPr/>
    </dgm:pt>
    <dgm:pt modelId="{9E17E610-E195-494B-92F1-C81A41580687}" type="pres">
      <dgm:prSet presAssocID="{E5D5F389-9E46-4EF9-A4E7-BD67DA899BA1}" presName="dotRepeatNode" presStyleLbl="fgShp" presStyleIdx="2" presStyleCnt="3"/>
      <dgm:spPr/>
    </dgm:pt>
    <dgm:pt modelId="{23308720-AA88-4C83-9477-E3CBBCAF6185}" type="pres">
      <dgm:prSet presAssocID="{E4DD7D8E-015E-48CE-B6F3-AD365535FEBA}" presName="txNode5" presStyleLbl="revTx" presStyleIdx="4" presStyleCnt="5">
        <dgm:presLayoutVars>
          <dgm:bulletEnabled val="1"/>
        </dgm:presLayoutVars>
      </dgm:prSet>
      <dgm:spPr/>
    </dgm:pt>
  </dgm:ptLst>
  <dgm:cxnLst>
    <dgm:cxn modelId="{14D52D26-3745-4A59-8A54-671EF4F5D104}" type="presOf" srcId="{C98FBA51-BDBA-470F-B5A1-C6544EFB5098}" destId="{64F889C3-9185-4D93-B343-BE1D60759525}" srcOrd="0" destOrd="0" presId="urn:microsoft.com/office/officeart/2009/3/layout/DescendingProcess"/>
    <dgm:cxn modelId="{A16FA050-8090-446B-BD65-9D7B2CD8CBC3}" srcId="{C98FBA51-BDBA-470F-B5A1-C6544EFB5098}" destId="{E4DD7D8E-015E-48CE-B6F3-AD365535FEBA}" srcOrd="4" destOrd="0" parTransId="{2B4A2A65-11AF-4839-BB74-50B877CD5993}" sibTransId="{40B077CC-1B54-4FD6-9931-4A2C2143F0A3}"/>
    <dgm:cxn modelId="{AF4EBA77-7AAA-48AE-825F-332FB6549EEB}" type="presOf" srcId="{6BCB9B42-FA73-4A2B-B312-D155BC228DE5}" destId="{F2340480-C133-420A-9C55-3D6BD1485CF5}" srcOrd="0" destOrd="0" presId="urn:microsoft.com/office/officeart/2009/3/layout/DescendingProcess"/>
    <dgm:cxn modelId="{AB1C8D89-FE9F-4F07-BEDC-5079C8643B18}" type="presOf" srcId="{E5D5F389-9E46-4EF9-A4E7-BD67DA899BA1}" destId="{9E17E610-E195-494B-92F1-C81A41580687}" srcOrd="0" destOrd="0" presId="urn:microsoft.com/office/officeart/2009/3/layout/DescendingProcess"/>
    <dgm:cxn modelId="{3427A48A-180D-40DC-AE9B-F87255659287}" srcId="{C98FBA51-BDBA-470F-B5A1-C6544EFB5098}" destId="{B4B3A722-89A7-4550-87BD-B4F460B33E71}" srcOrd="2" destOrd="0" parTransId="{B828DF4B-77F4-447B-8560-5D13C5817FF3}" sibTransId="{EF2F2727-BF24-4598-8B13-CE8D69F96C2D}"/>
    <dgm:cxn modelId="{D10CD990-63FE-436A-B167-ADD6352D7DC1}" srcId="{C98FBA51-BDBA-470F-B5A1-C6544EFB5098}" destId="{21FC4FA2-ADF7-41B1-BAFA-8FE4F601C06E}" srcOrd="0" destOrd="0" parTransId="{1CB211C0-2C20-4108-9343-B017F50D5E3B}" sibTransId="{E1E358D5-7567-4457-B94F-5A0AC2B6527D}"/>
    <dgm:cxn modelId="{13819CB3-F9B0-4946-BA51-F3A6C5125D97}" type="presOf" srcId="{E4DD7D8E-015E-48CE-B6F3-AD365535FEBA}" destId="{23308720-AA88-4C83-9477-E3CBBCAF6185}" srcOrd="0" destOrd="0" presId="urn:microsoft.com/office/officeart/2009/3/layout/DescendingProcess"/>
    <dgm:cxn modelId="{3F8275C7-208F-4B57-8C50-EF6A3BB06658}" srcId="{C98FBA51-BDBA-470F-B5A1-C6544EFB5098}" destId="{6BCB9B42-FA73-4A2B-B312-D155BC228DE5}" srcOrd="3" destOrd="0" parTransId="{8184091C-F7E1-4A38-976C-15BAAB6CD48E}" sibTransId="{E5D5F389-9E46-4EF9-A4E7-BD67DA899BA1}"/>
    <dgm:cxn modelId="{503CD7D0-A26D-4334-ACB6-452862288CCE}" type="presOf" srcId="{A8734BE4-B302-40F4-ADDF-FD945844E055}" destId="{92D44C38-0A2A-42C4-97E3-8EF8B5C28271}" srcOrd="0" destOrd="0" presId="urn:microsoft.com/office/officeart/2009/3/layout/DescendingProcess"/>
    <dgm:cxn modelId="{769608DE-E99A-441A-BD0F-B2DA2B19F6D5}" srcId="{C98FBA51-BDBA-470F-B5A1-C6544EFB5098}" destId="{636838FB-D716-4673-8206-47287F01B8AA}" srcOrd="1" destOrd="0" parTransId="{F708E609-37DE-4358-8A45-D06BFBB53F9D}" sibTransId="{A8734BE4-B302-40F4-ADDF-FD945844E055}"/>
    <dgm:cxn modelId="{D7F80EE9-D598-4DBE-8D73-3AF49406B49D}" type="presOf" srcId="{636838FB-D716-4673-8206-47287F01B8AA}" destId="{A33FF154-39AD-4BAA-A7F2-183D8125BAF2}" srcOrd="0" destOrd="0" presId="urn:microsoft.com/office/officeart/2009/3/layout/DescendingProcess"/>
    <dgm:cxn modelId="{D7F2F7F2-0516-4EB7-B7F5-846B6B82A346}" type="presOf" srcId="{21FC4FA2-ADF7-41B1-BAFA-8FE4F601C06E}" destId="{F8ED98A6-0E23-4BB2-ACA8-99A9219F8509}" srcOrd="0" destOrd="0" presId="urn:microsoft.com/office/officeart/2009/3/layout/DescendingProcess"/>
    <dgm:cxn modelId="{4056E7F4-8E87-4135-96C3-0897E51349D9}" type="presOf" srcId="{EF2F2727-BF24-4598-8B13-CE8D69F96C2D}" destId="{418A7399-FA42-4CAC-8D4E-0D8390BA73FD}" srcOrd="0" destOrd="0" presId="urn:microsoft.com/office/officeart/2009/3/layout/DescendingProcess"/>
    <dgm:cxn modelId="{A0F00FFF-6D41-47CC-AFDF-6CDA4290AF90}" type="presOf" srcId="{B4B3A722-89A7-4550-87BD-B4F460B33E71}" destId="{B87ACB8D-D8F7-4164-A79E-90513B2A7B2A}" srcOrd="0" destOrd="0" presId="urn:microsoft.com/office/officeart/2009/3/layout/DescendingProcess"/>
    <dgm:cxn modelId="{36435751-2EA8-482D-9CD8-D5F04EB1CC3F}" type="presParOf" srcId="{64F889C3-9185-4D93-B343-BE1D60759525}" destId="{FC1F9E9D-9A6D-4445-A22C-C904B08AA6B1}" srcOrd="0" destOrd="0" presId="urn:microsoft.com/office/officeart/2009/3/layout/DescendingProcess"/>
    <dgm:cxn modelId="{A629B549-3D74-4245-8BEC-29D26670671B}" type="presParOf" srcId="{64F889C3-9185-4D93-B343-BE1D60759525}" destId="{F8ED98A6-0E23-4BB2-ACA8-99A9219F8509}" srcOrd="1" destOrd="0" presId="urn:microsoft.com/office/officeart/2009/3/layout/DescendingProcess"/>
    <dgm:cxn modelId="{97A5E80D-FAC4-4513-8423-2B56A2B85A4C}" type="presParOf" srcId="{64F889C3-9185-4D93-B343-BE1D60759525}" destId="{A33FF154-39AD-4BAA-A7F2-183D8125BAF2}" srcOrd="2" destOrd="0" presId="urn:microsoft.com/office/officeart/2009/3/layout/DescendingProcess"/>
    <dgm:cxn modelId="{0E243067-8DFD-4A1E-AD69-146EB182AE98}" type="presParOf" srcId="{64F889C3-9185-4D93-B343-BE1D60759525}" destId="{B2813FD1-9135-41C2-96C3-A2B10649C139}" srcOrd="3" destOrd="0" presId="urn:microsoft.com/office/officeart/2009/3/layout/DescendingProcess"/>
    <dgm:cxn modelId="{98310C14-303D-45B3-9D1E-0A7B3D8B5116}" type="presParOf" srcId="{B2813FD1-9135-41C2-96C3-A2B10649C139}" destId="{92D44C38-0A2A-42C4-97E3-8EF8B5C28271}" srcOrd="0" destOrd="0" presId="urn:microsoft.com/office/officeart/2009/3/layout/DescendingProcess"/>
    <dgm:cxn modelId="{57D04540-D553-48F6-9423-AA1C345B8214}" type="presParOf" srcId="{64F889C3-9185-4D93-B343-BE1D60759525}" destId="{B87ACB8D-D8F7-4164-A79E-90513B2A7B2A}" srcOrd="4" destOrd="0" presId="urn:microsoft.com/office/officeart/2009/3/layout/DescendingProcess"/>
    <dgm:cxn modelId="{F68195F4-8507-4392-93E3-4F69A57D2CB3}" type="presParOf" srcId="{64F889C3-9185-4D93-B343-BE1D60759525}" destId="{8DA04186-8B79-498B-8543-1E184E770909}" srcOrd="5" destOrd="0" presId="urn:microsoft.com/office/officeart/2009/3/layout/DescendingProcess"/>
    <dgm:cxn modelId="{4A0A3046-EFCD-4A6D-A887-B1E159EECC99}" type="presParOf" srcId="{8DA04186-8B79-498B-8543-1E184E770909}" destId="{418A7399-FA42-4CAC-8D4E-0D8390BA73FD}" srcOrd="0" destOrd="0" presId="urn:microsoft.com/office/officeart/2009/3/layout/DescendingProcess"/>
    <dgm:cxn modelId="{64494956-DB69-49C6-A64C-D24706715FA4}" type="presParOf" srcId="{64F889C3-9185-4D93-B343-BE1D60759525}" destId="{F2340480-C133-420A-9C55-3D6BD1485CF5}" srcOrd="6" destOrd="0" presId="urn:microsoft.com/office/officeart/2009/3/layout/DescendingProcess"/>
    <dgm:cxn modelId="{8C619C7B-F9F0-4340-A697-AE787A7C76A2}" type="presParOf" srcId="{64F889C3-9185-4D93-B343-BE1D60759525}" destId="{9F939628-1FA4-4E76-AD8B-719DB5BB524D}" srcOrd="7" destOrd="0" presId="urn:microsoft.com/office/officeart/2009/3/layout/DescendingProcess"/>
    <dgm:cxn modelId="{5192F1CD-E005-4C17-B0BE-608E2B1C1007}" type="presParOf" srcId="{9F939628-1FA4-4E76-AD8B-719DB5BB524D}" destId="{9E17E610-E195-494B-92F1-C81A41580687}" srcOrd="0" destOrd="0" presId="urn:microsoft.com/office/officeart/2009/3/layout/DescendingProcess"/>
    <dgm:cxn modelId="{884E119C-62D3-4801-8200-DC858DD08FF7}" type="presParOf" srcId="{64F889C3-9185-4D93-B343-BE1D60759525}" destId="{23308720-AA88-4C83-9477-E3CBBCAF6185}" srcOrd="8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B680D9-C5CE-49BC-9E87-B9155FD46C98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53D934B9-1870-471B-9DF1-2F69B8A37A56}">
      <dgm:prSet phldrT="[Texto]"/>
      <dgm:spPr>
        <a:solidFill>
          <a:srgbClr val="F6EFE6"/>
        </a:solidFill>
        <a:ln>
          <a:solidFill>
            <a:srgbClr val="DEC6AA"/>
          </a:solidFill>
        </a:ln>
      </dgm:spPr>
      <dgm:t>
        <a:bodyPr/>
        <a:lstStyle/>
        <a:p>
          <a:r>
            <a:rPr lang="pt-PT" dirty="0">
              <a:solidFill>
                <a:sysClr val="windowText" lastClr="000000"/>
              </a:solidFill>
            </a:rPr>
            <a:t>Definição dos </a:t>
          </a:r>
          <a:r>
            <a:rPr lang="pt-PT" dirty="0" err="1">
              <a:solidFill>
                <a:sysClr val="windowText" lastClr="000000"/>
              </a:solidFill>
            </a:rPr>
            <a:t>hiperparâmetros</a:t>
          </a:r>
          <a:endParaRPr lang="pt-PT" dirty="0">
            <a:solidFill>
              <a:sysClr val="windowText" lastClr="000000"/>
            </a:solidFill>
          </a:endParaRPr>
        </a:p>
      </dgm:t>
    </dgm:pt>
    <dgm:pt modelId="{A5244F02-8734-44C3-883B-A18D2C83028A}" type="parTrans" cxnId="{A8109E91-8E1A-4EC4-8025-BB08851D3037}">
      <dgm:prSet/>
      <dgm:spPr/>
      <dgm:t>
        <a:bodyPr/>
        <a:lstStyle/>
        <a:p>
          <a:endParaRPr lang="pt-PT"/>
        </a:p>
      </dgm:t>
    </dgm:pt>
    <dgm:pt modelId="{9671A749-8F16-4213-884C-FA18C68366CF}" type="sibTrans" cxnId="{A8109E91-8E1A-4EC4-8025-BB08851D3037}">
      <dgm:prSet/>
      <dgm:spPr>
        <a:ln>
          <a:solidFill>
            <a:srgbClr val="DEC6AA"/>
          </a:solidFill>
        </a:ln>
      </dgm:spPr>
      <dgm:t>
        <a:bodyPr/>
        <a:lstStyle/>
        <a:p>
          <a:endParaRPr lang="pt-PT"/>
        </a:p>
      </dgm:t>
    </dgm:pt>
    <dgm:pt modelId="{6E5B755F-F047-4ADF-95E1-9D029C47520D}">
      <dgm:prSet phldrT="[Texto]"/>
      <dgm:spPr>
        <a:solidFill>
          <a:srgbClr val="F6EFE6"/>
        </a:solidFill>
        <a:ln>
          <a:solidFill>
            <a:srgbClr val="DEC6AA"/>
          </a:solidFill>
        </a:ln>
      </dgm:spPr>
      <dgm:t>
        <a:bodyPr/>
        <a:lstStyle/>
        <a:p>
          <a:r>
            <a:rPr lang="pt-PT" dirty="0">
              <a:solidFill>
                <a:sysClr val="windowText" lastClr="000000"/>
              </a:solidFill>
            </a:rPr>
            <a:t>Implementação de cross-</a:t>
          </a:r>
          <a:r>
            <a:rPr lang="pt-PT" dirty="0" err="1">
              <a:solidFill>
                <a:sysClr val="windowText" lastClr="000000"/>
              </a:solidFill>
            </a:rPr>
            <a:t>validation</a:t>
          </a:r>
          <a:endParaRPr lang="pt-PT" dirty="0">
            <a:solidFill>
              <a:sysClr val="windowText" lastClr="000000"/>
            </a:solidFill>
          </a:endParaRPr>
        </a:p>
      </dgm:t>
    </dgm:pt>
    <dgm:pt modelId="{CD8B43DC-2F8D-4C97-8C57-C33E51C170D1}" type="parTrans" cxnId="{AE65B551-5953-4D07-816E-C3C636274790}">
      <dgm:prSet/>
      <dgm:spPr/>
      <dgm:t>
        <a:bodyPr/>
        <a:lstStyle/>
        <a:p>
          <a:endParaRPr lang="pt-PT"/>
        </a:p>
      </dgm:t>
    </dgm:pt>
    <dgm:pt modelId="{7B0D6A23-ADDE-4450-88EA-1711E501E6A5}" type="sibTrans" cxnId="{AE65B551-5953-4D07-816E-C3C636274790}">
      <dgm:prSet/>
      <dgm:spPr>
        <a:ln>
          <a:solidFill>
            <a:srgbClr val="DEC6AA"/>
          </a:solidFill>
        </a:ln>
      </dgm:spPr>
      <dgm:t>
        <a:bodyPr/>
        <a:lstStyle/>
        <a:p>
          <a:endParaRPr lang="pt-PT"/>
        </a:p>
      </dgm:t>
    </dgm:pt>
    <dgm:pt modelId="{3E427CE9-B989-48B2-91CC-61CDE750027E}">
      <dgm:prSet phldrT="[Texto]"/>
      <dgm:spPr>
        <a:solidFill>
          <a:srgbClr val="F6EFE6"/>
        </a:solidFill>
        <a:ln>
          <a:solidFill>
            <a:srgbClr val="DEC6AA"/>
          </a:solidFill>
        </a:ln>
      </dgm:spPr>
      <dgm:t>
        <a:bodyPr/>
        <a:lstStyle/>
        <a:p>
          <a:r>
            <a:rPr lang="pt-PT" dirty="0">
              <a:solidFill>
                <a:sysClr val="windowText" lastClr="000000"/>
              </a:solidFill>
            </a:rPr>
            <a:t>Descobrir o melhor modelo </a:t>
          </a:r>
        </a:p>
      </dgm:t>
    </dgm:pt>
    <dgm:pt modelId="{04CEBBB3-E6FE-45AF-83D4-42C8E8CD8602}" type="parTrans" cxnId="{016A601B-8992-4E4F-9AE9-ACBBECDF5DBE}">
      <dgm:prSet/>
      <dgm:spPr/>
      <dgm:t>
        <a:bodyPr/>
        <a:lstStyle/>
        <a:p>
          <a:endParaRPr lang="pt-PT"/>
        </a:p>
      </dgm:t>
    </dgm:pt>
    <dgm:pt modelId="{7B0DF01E-D3D5-4907-801A-9EFAC33C03F3}" type="sibTrans" cxnId="{016A601B-8992-4E4F-9AE9-ACBBECDF5DBE}">
      <dgm:prSet/>
      <dgm:spPr>
        <a:ln>
          <a:solidFill>
            <a:srgbClr val="DEC6AA"/>
          </a:solidFill>
        </a:ln>
      </dgm:spPr>
      <dgm:t>
        <a:bodyPr/>
        <a:lstStyle/>
        <a:p>
          <a:endParaRPr lang="pt-PT"/>
        </a:p>
      </dgm:t>
    </dgm:pt>
    <dgm:pt modelId="{31CD203E-E670-486D-BC93-58E5C05C0E02}">
      <dgm:prSet phldrT="[Texto]"/>
      <dgm:spPr>
        <a:solidFill>
          <a:srgbClr val="F6EFE6"/>
        </a:solidFill>
        <a:ln>
          <a:solidFill>
            <a:srgbClr val="DEC6AA"/>
          </a:solidFill>
        </a:ln>
      </dgm:spPr>
      <dgm:t>
        <a:bodyPr/>
        <a:lstStyle/>
        <a:p>
          <a:r>
            <a:rPr lang="pt-PT" dirty="0">
              <a:solidFill>
                <a:sysClr val="windowText" lastClr="000000"/>
              </a:solidFill>
            </a:rPr>
            <a:t>Treino do melhor modelo</a:t>
          </a:r>
        </a:p>
      </dgm:t>
    </dgm:pt>
    <dgm:pt modelId="{40F054BD-5F7B-4469-A067-26ABD4B815C1}" type="parTrans" cxnId="{882FA365-A08F-4E92-9505-C2122E666B00}">
      <dgm:prSet/>
      <dgm:spPr/>
      <dgm:t>
        <a:bodyPr/>
        <a:lstStyle/>
        <a:p>
          <a:endParaRPr lang="pt-PT"/>
        </a:p>
      </dgm:t>
    </dgm:pt>
    <dgm:pt modelId="{81EECF2E-24AE-4011-A775-BE8801BE9F71}" type="sibTrans" cxnId="{882FA365-A08F-4E92-9505-C2122E666B00}">
      <dgm:prSet/>
      <dgm:spPr>
        <a:ln>
          <a:solidFill>
            <a:srgbClr val="DEC6AA"/>
          </a:solidFill>
        </a:ln>
      </dgm:spPr>
      <dgm:t>
        <a:bodyPr/>
        <a:lstStyle/>
        <a:p>
          <a:endParaRPr lang="pt-PT"/>
        </a:p>
      </dgm:t>
    </dgm:pt>
    <dgm:pt modelId="{0DFFD1FD-11BA-407F-B424-A194A0CE2056}">
      <dgm:prSet phldrT="[Texto]"/>
      <dgm:spPr>
        <a:solidFill>
          <a:srgbClr val="F6EFE6"/>
        </a:solidFill>
        <a:ln>
          <a:solidFill>
            <a:srgbClr val="DEC6AA"/>
          </a:solidFill>
        </a:ln>
      </dgm:spPr>
      <dgm:t>
        <a:bodyPr/>
        <a:lstStyle/>
        <a:p>
          <a:r>
            <a:rPr lang="pt-PT" dirty="0">
              <a:solidFill>
                <a:sysClr val="windowText" lastClr="000000"/>
              </a:solidFill>
            </a:rPr>
            <a:t>Previstos</a:t>
          </a:r>
        </a:p>
      </dgm:t>
    </dgm:pt>
    <dgm:pt modelId="{373EDD95-F6A8-45E7-A67E-1724C49D7585}" type="parTrans" cxnId="{8992B92C-FFBD-4839-9694-F64511B80A3F}">
      <dgm:prSet/>
      <dgm:spPr/>
      <dgm:t>
        <a:bodyPr/>
        <a:lstStyle/>
        <a:p>
          <a:endParaRPr lang="pt-PT"/>
        </a:p>
      </dgm:t>
    </dgm:pt>
    <dgm:pt modelId="{FF1171DF-13E9-48BD-9958-792EBAC0AD37}" type="sibTrans" cxnId="{8992B92C-FFBD-4839-9694-F64511B80A3F}">
      <dgm:prSet/>
      <dgm:spPr>
        <a:ln>
          <a:solidFill>
            <a:srgbClr val="DEC6AA"/>
          </a:solidFill>
        </a:ln>
      </dgm:spPr>
      <dgm:t>
        <a:bodyPr/>
        <a:lstStyle/>
        <a:p>
          <a:endParaRPr lang="pt-PT"/>
        </a:p>
      </dgm:t>
    </dgm:pt>
    <dgm:pt modelId="{0B3282D0-2C22-4C78-AF10-72A55D9F858D}">
      <dgm:prSet/>
      <dgm:spPr>
        <a:solidFill>
          <a:srgbClr val="F6EFE6"/>
        </a:solidFill>
        <a:ln>
          <a:solidFill>
            <a:srgbClr val="DEC6AA"/>
          </a:solidFill>
        </a:ln>
      </dgm:spPr>
      <dgm:t>
        <a:bodyPr/>
        <a:lstStyle/>
        <a:p>
          <a:r>
            <a:rPr lang="pt-PT" dirty="0">
              <a:solidFill>
                <a:sysClr val="windowText" lastClr="000000"/>
              </a:solidFill>
            </a:rPr>
            <a:t>Medidas de performance</a:t>
          </a:r>
        </a:p>
      </dgm:t>
    </dgm:pt>
    <dgm:pt modelId="{0EBA5410-1231-471D-A7C2-3675496E529C}" type="parTrans" cxnId="{868E7C31-CBA4-40DA-9564-1BCAB37F0BF4}">
      <dgm:prSet/>
      <dgm:spPr/>
      <dgm:t>
        <a:bodyPr/>
        <a:lstStyle/>
        <a:p>
          <a:endParaRPr lang="pt-PT"/>
        </a:p>
      </dgm:t>
    </dgm:pt>
    <dgm:pt modelId="{734B554F-83E3-42EE-86A4-BB35309922C0}" type="sibTrans" cxnId="{868E7C31-CBA4-40DA-9564-1BCAB37F0BF4}">
      <dgm:prSet/>
      <dgm:spPr>
        <a:ln>
          <a:solidFill>
            <a:srgbClr val="DEC6AA"/>
          </a:solidFill>
        </a:ln>
      </dgm:spPr>
      <dgm:t>
        <a:bodyPr/>
        <a:lstStyle/>
        <a:p>
          <a:endParaRPr lang="pt-PT"/>
        </a:p>
      </dgm:t>
    </dgm:pt>
    <dgm:pt modelId="{B4CF4825-A92E-417B-8851-503582CBFB52}" type="pres">
      <dgm:prSet presAssocID="{FFB680D9-C5CE-49BC-9E87-B9155FD46C98}" presName="cycle" presStyleCnt="0">
        <dgm:presLayoutVars>
          <dgm:dir/>
          <dgm:resizeHandles val="exact"/>
        </dgm:presLayoutVars>
      </dgm:prSet>
      <dgm:spPr/>
    </dgm:pt>
    <dgm:pt modelId="{CFAF0316-6566-4F39-A295-689D96CD8437}" type="pres">
      <dgm:prSet presAssocID="{53D934B9-1870-471B-9DF1-2F69B8A37A56}" presName="node" presStyleLbl="node1" presStyleIdx="0" presStyleCnt="6">
        <dgm:presLayoutVars>
          <dgm:bulletEnabled val="1"/>
        </dgm:presLayoutVars>
      </dgm:prSet>
      <dgm:spPr/>
    </dgm:pt>
    <dgm:pt modelId="{2280C3CC-0412-4566-A7FC-07178C4AC938}" type="pres">
      <dgm:prSet presAssocID="{53D934B9-1870-471B-9DF1-2F69B8A37A56}" presName="spNode" presStyleCnt="0"/>
      <dgm:spPr/>
    </dgm:pt>
    <dgm:pt modelId="{0F0CF4C3-C7C1-4A11-B58F-D87A7D044307}" type="pres">
      <dgm:prSet presAssocID="{9671A749-8F16-4213-884C-FA18C68366CF}" presName="sibTrans" presStyleLbl="sibTrans1D1" presStyleIdx="0" presStyleCnt="6"/>
      <dgm:spPr/>
    </dgm:pt>
    <dgm:pt modelId="{2427F64B-75C9-4C54-8A25-C50AA8F56668}" type="pres">
      <dgm:prSet presAssocID="{6E5B755F-F047-4ADF-95E1-9D029C47520D}" presName="node" presStyleLbl="node1" presStyleIdx="1" presStyleCnt="6">
        <dgm:presLayoutVars>
          <dgm:bulletEnabled val="1"/>
        </dgm:presLayoutVars>
      </dgm:prSet>
      <dgm:spPr/>
    </dgm:pt>
    <dgm:pt modelId="{EC2BA343-BDE8-43C8-8C0C-FC38AE17B58C}" type="pres">
      <dgm:prSet presAssocID="{6E5B755F-F047-4ADF-95E1-9D029C47520D}" presName="spNode" presStyleCnt="0"/>
      <dgm:spPr/>
    </dgm:pt>
    <dgm:pt modelId="{D9AF10BE-AC53-4F45-A285-D743AB84CFA0}" type="pres">
      <dgm:prSet presAssocID="{7B0D6A23-ADDE-4450-88EA-1711E501E6A5}" presName="sibTrans" presStyleLbl="sibTrans1D1" presStyleIdx="1" presStyleCnt="6"/>
      <dgm:spPr/>
    </dgm:pt>
    <dgm:pt modelId="{A997EA1C-F519-41F0-8F75-F2777B351B08}" type="pres">
      <dgm:prSet presAssocID="{3E427CE9-B989-48B2-91CC-61CDE750027E}" presName="node" presStyleLbl="node1" presStyleIdx="2" presStyleCnt="6">
        <dgm:presLayoutVars>
          <dgm:bulletEnabled val="1"/>
        </dgm:presLayoutVars>
      </dgm:prSet>
      <dgm:spPr/>
    </dgm:pt>
    <dgm:pt modelId="{67943E34-DC39-467D-9768-A50CF8415A56}" type="pres">
      <dgm:prSet presAssocID="{3E427CE9-B989-48B2-91CC-61CDE750027E}" presName="spNode" presStyleCnt="0"/>
      <dgm:spPr/>
    </dgm:pt>
    <dgm:pt modelId="{A122A20F-3052-4924-B404-98927974C524}" type="pres">
      <dgm:prSet presAssocID="{7B0DF01E-D3D5-4907-801A-9EFAC33C03F3}" presName="sibTrans" presStyleLbl="sibTrans1D1" presStyleIdx="2" presStyleCnt="6"/>
      <dgm:spPr/>
    </dgm:pt>
    <dgm:pt modelId="{E5524AFC-6541-4D47-B570-7D53ADB38495}" type="pres">
      <dgm:prSet presAssocID="{31CD203E-E670-486D-BC93-58E5C05C0E02}" presName="node" presStyleLbl="node1" presStyleIdx="3" presStyleCnt="6">
        <dgm:presLayoutVars>
          <dgm:bulletEnabled val="1"/>
        </dgm:presLayoutVars>
      </dgm:prSet>
      <dgm:spPr/>
    </dgm:pt>
    <dgm:pt modelId="{6A1D601E-30AA-4E7D-82A0-1A7DDE1142E6}" type="pres">
      <dgm:prSet presAssocID="{31CD203E-E670-486D-BC93-58E5C05C0E02}" presName="spNode" presStyleCnt="0"/>
      <dgm:spPr/>
    </dgm:pt>
    <dgm:pt modelId="{9BB15AB8-A90E-47CA-87AC-1D69E3A46B59}" type="pres">
      <dgm:prSet presAssocID="{81EECF2E-24AE-4011-A775-BE8801BE9F71}" presName="sibTrans" presStyleLbl="sibTrans1D1" presStyleIdx="3" presStyleCnt="6"/>
      <dgm:spPr/>
    </dgm:pt>
    <dgm:pt modelId="{A18789AD-2403-4B18-A713-4A710C700579}" type="pres">
      <dgm:prSet presAssocID="{0DFFD1FD-11BA-407F-B424-A194A0CE2056}" presName="node" presStyleLbl="node1" presStyleIdx="4" presStyleCnt="6">
        <dgm:presLayoutVars>
          <dgm:bulletEnabled val="1"/>
        </dgm:presLayoutVars>
      </dgm:prSet>
      <dgm:spPr/>
    </dgm:pt>
    <dgm:pt modelId="{3B5B6A82-1745-4627-BB39-2EE93DEF458A}" type="pres">
      <dgm:prSet presAssocID="{0DFFD1FD-11BA-407F-B424-A194A0CE2056}" presName="spNode" presStyleCnt="0"/>
      <dgm:spPr/>
    </dgm:pt>
    <dgm:pt modelId="{04EE43BE-0AC5-4FC7-A72B-9B18A08401A6}" type="pres">
      <dgm:prSet presAssocID="{FF1171DF-13E9-48BD-9958-792EBAC0AD37}" presName="sibTrans" presStyleLbl="sibTrans1D1" presStyleIdx="4" presStyleCnt="6"/>
      <dgm:spPr/>
    </dgm:pt>
    <dgm:pt modelId="{EA59E363-CAC5-466C-A2EF-A26C88E044BE}" type="pres">
      <dgm:prSet presAssocID="{0B3282D0-2C22-4C78-AF10-72A55D9F858D}" presName="node" presStyleLbl="node1" presStyleIdx="5" presStyleCnt="6">
        <dgm:presLayoutVars>
          <dgm:bulletEnabled val="1"/>
        </dgm:presLayoutVars>
      </dgm:prSet>
      <dgm:spPr/>
    </dgm:pt>
    <dgm:pt modelId="{AADC9C3E-E68A-4DA2-95E6-8BD295E284F7}" type="pres">
      <dgm:prSet presAssocID="{0B3282D0-2C22-4C78-AF10-72A55D9F858D}" presName="spNode" presStyleCnt="0"/>
      <dgm:spPr/>
    </dgm:pt>
    <dgm:pt modelId="{67FF648A-6321-4A4C-894F-0DD97BD36700}" type="pres">
      <dgm:prSet presAssocID="{734B554F-83E3-42EE-86A4-BB35309922C0}" presName="sibTrans" presStyleLbl="sibTrans1D1" presStyleIdx="5" presStyleCnt="6"/>
      <dgm:spPr/>
    </dgm:pt>
  </dgm:ptLst>
  <dgm:cxnLst>
    <dgm:cxn modelId="{016A601B-8992-4E4F-9AE9-ACBBECDF5DBE}" srcId="{FFB680D9-C5CE-49BC-9E87-B9155FD46C98}" destId="{3E427CE9-B989-48B2-91CC-61CDE750027E}" srcOrd="2" destOrd="0" parTransId="{04CEBBB3-E6FE-45AF-83D4-42C8E8CD8602}" sibTransId="{7B0DF01E-D3D5-4907-801A-9EFAC33C03F3}"/>
    <dgm:cxn modelId="{47E54522-269A-486E-BC72-7948F798C617}" type="presOf" srcId="{81EECF2E-24AE-4011-A775-BE8801BE9F71}" destId="{9BB15AB8-A90E-47CA-87AC-1D69E3A46B59}" srcOrd="0" destOrd="0" presId="urn:microsoft.com/office/officeart/2005/8/layout/cycle5"/>
    <dgm:cxn modelId="{3BF66223-B653-4135-BE58-6F93C477E67A}" type="presOf" srcId="{31CD203E-E670-486D-BC93-58E5C05C0E02}" destId="{E5524AFC-6541-4D47-B570-7D53ADB38495}" srcOrd="0" destOrd="0" presId="urn:microsoft.com/office/officeart/2005/8/layout/cycle5"/>
    <dgm:cxn modelId="{3E2C1F2A-1A97-4667-99CC-DA3D83B86482}" type="presOf" srcId="{6E5B755F-F047-4ADF-95E1-9D029C47520D}" destId="{2427F64B-75C9-4C54-8A25-C50AA8F56668}" srcOrd="0" destOrd="0" presId="urn:microsoft.com/office/officeart/2005/8/layout/cycle5"/>
    <dgm:cxn modelId="{8992B92C-FFBD-4839-9694-F64511B80A3F}" srcId="{FFB680D9-C5CE-49BC-9E87-B9155FD46C98}" destId="{0DFFD1FD-11BA-407F-B424-A194A0CE2056}" srcOrd="4" destOrd="0" parTransId="{373EDD95-F6A8-45E7-A67E-1724C49D7585}" sibTransId="{FF1171DF-13E9-48BD-9958-792EBAC0AD37}"/>
    <dgm:cxn modelId="{868E7C31-CBA4-40DA-9564-1BCAB37F0BF4}" srcId="{FFB680D9-C5CE-49BC-9E87-B9155FD46C98}" destId="{0B3282D0-2C22-4C78-AF10-72A55D9F858D}" srcOrd="5" destOrd="0" parTransId="{0EBA5410-1231-471D-A7C2-3675496E529C}" sibTransId="{734B554F-83E3-42EE-86A4-BB35309922C0}"/>
    <dgm:cxn modelId="{8FA93E5F-A74D-4DF8-8DF2-6DC6151DD63A}" type="presOf" srcId="{53D934B9-1870-471B-9DF1-2F69B8A37A56}" destId="{CFAF0316-6566-4F39-A295-689D96CD8437}" srcOrd="0" destOrd="0" presId="urn:microsoft.com/office/officeart/2005/8/layout/cycle5"/>
    <dgm:cxn modelId="{882FA365-A08F-4E92-9505-C2122E666B00}" srcId="{FFB680D9-C5CE-49BC-9E87-B9155FD46C98}" destId="{31CD203E-E670-486D-BC93-58E5C05C0E02}" srcOrd="3" destOrd="0" parTransId="{40F054BD-5F7B-4469-A067-26ABD4B815C1}" sibTransId="{81EECF2E-24AE-4011-A775-BE8801BE9F71}"/>
    <dgm:cxn modelId="{A8ED5250-6C1B-47A7-897F-85A7FABD13F3}" type="presOf" srcId="{3E427CE9-B989-48B2-91CC-61CDE750027E}" destId="{A997EA1C-F519-41F0-8F75-F2777B351B08}" srcOrd="0" destOrd="0" presId="urn:microsoft.com/office/officeart/2005/8/layout/cycle5"/>
    <dgm:cxn modelId="{AE65B551-5953-4D07-816E-C3C636274790}" srcId="{FFB680D9-C5CE-49BC-9E87-B9155FD46C98}" destId="{6E5B755F-F047-4ADF-95E1-9D029C47520D}" srcOrd="1" destOrd="0" parTransId="{CD8B43DC-2F8D-4C97-8C57-C33E51C170D1}" sibTransId="{7B0D6A23-ADDE-4450-88EA-1711E501E6A5}"/>
    <dgm:cxn modelId="{35F29D88-56F2-473F-B842-3476CE3AB960}" type="presOf" srcId="{734B554F-83E3-42EE-86A4-BB35309922C0}" destId="{67FF648A-6321-4A4C-894F-0DD97BD36700}" srcOrd="0" destOrd="0" presId="urn:microsoft.com/office/officeart/2005/8/layout/cycle5"/>
    <dgm:cxn modelId="{E2B26C8E-CB81-483B-B169-6F4F9D5D0691}" type="presOf" srcId="{FFB680D9-C5CE-49BC-9E87-B9155FD46C98}" destId="{B4CF4825-A92E-417B-8851-503582CBFB52}" srcOrd="0" destOrd="0" presId="urn:microsoft.com/office/officeart/2005/8/layout/cycle5"/>
    <dgm:cxn modelId="{A8109E91-8E1A-4EC4-8025-BB08851D3037}" srcId="{FFB680D9-C5CE-49BC-9E87-B9155FD46C98}" destId="{53D934B9-1870-471B-9DF1-2F69B8A37A56}" srcOrd="0" destOrd="0" parTransId="{A5244F02-8734-44C3-883B-A18D2C83028A}" sibTransId="{9671A749-8F16-4213-884C-FA18C68366CF}"/>
    <dgm:cxn modelId="{772ED495-5FEB-4404-9307-E71F6E0CC8C7}" type="presOf" srcId="{FF1171DF-13E9-48BD-9958-792EBAC0AD37}" destId="{04EE43BE-0AC5-4FC7-A72B-9B18A08401A6}" srcOrd="0" destOrd="0" presId="urn:microsoft.com/office/officeart/2005/8/layout/cycle5"/>
    <dgm:cxn modelId="{BFFB9796-AAF6-4710-ACA8-30239E161818}" type="presOf" srcId="{7B0DF01E-D3D5-4907-801A-9EFAC33C03F3}" destId="{A122A20F-3052-4924-B404-98927974C524}" srcOrd="0" destOrd="0" presId="urn:microsoft.com/office/officeart/2005/8/layout/cycle5"/>
    <dgm:cxn modelId="{FB68D6B8-1B10-4ED9-8F05-35BE72E00BDE}" type="presOf" srcId="{7B0D6A23-ADDE-4450-88EA-1711E501E6A5}" destId="{D9AF10BE-AC53-4F45-A285-D743AB84CFA0}" srcOrd="0" destOrd="0" presId="urn:microsoft.com/office/officeart/2005/8/layout/cycle5"/>
    <dgm:cxn modelId="{7525D5CD-C08C-47EB-8327-5A572826D2EC}" type="presOf" srcId="{0B3282D0-2C22-4C78-AF10-72A55D9F858D}" destId="{EA59E363-CAC5-466C-A2EF-A26C88E044BE}" srcOrd="0" destOrd="0" presId="urn:microsoft.com/office/officeart/2005/8/layout/cycle5"/>
    <dgm:cxn modelId="{23CA4DEE-3A89-4675-AD86-C0E2B9FE4DB9}" type="presOf" srcId="{0DFFD1FD-11BA-407F-B424-A194A0CE2056}" destId="{A18789AD-2403-4B18-A713-4A710C700579}" srcOrd="0" destOrd="0" presId="urn:microsoft.com/office/officeart/2005/8/layout/cycle5"/>
    <dgm:cxn modelId="{45541AF9-79A8-4482-A9F3-5C1B76DD56CC}" type="presOf" srcId="{9671A749-8F16-4213-884C-FA18C68366CF}" destId="{0F0CF4C3-C7C1-4A11-B58F-D87A7D044307}" srcOrd="0" destOrd="0" presId="urn:microsoft.com/office/officeart/2005/8/layout/cycle5"/>
    <dgm:cxn modelId="{C79C54DF-ABB3-452D-B362-66F6E8FFC6E2}" type="presParOf" srcId="{B4CF4825-A92E-417B-8851-503582CBFB52}" destId="{CFAF0316-6566-4F39-A295-689D96CD8437}" srcOrd="0" destOrd="0" presId="urn:microsoft.com/office/officeart/2005/8/layout/cycle5"/>
    <dgm:cxn modelId="{74FF2436-26E8-40DA-A9DF-2E6E082935F0}" type="presParOf" srcId="{B4CF4825-A92E-417B-8851-503582CBFB52}" destId="{2280C3CC-0412-4566-A7FC-07178C4AC938}" srcOrd="1" destOrd="0" presId="urn:microsoft.com/office/officeart/2005/8/layout/cycle5"/>
    <dgm:cxn modelId="{80EEC930-89CB-49E5-A257-117E8BDE2315}" type="presParOf" srcId="{B4CF4825-A92E-417B-8851-503582CBFB52}" destId="{0F0CF4C3-C7C1-4A11-B58F-D87A7D044307}" srcOrd="2" destOrd="0" presId="urn:microsoft.com/office/officeart/2005/8/layout/cycle5"/>
    <dgm:cxn modelId="{EF99A03F-FF62-49D0-B235-1523625C91E9}" type="presParOf" srcId="{B4CF4825-A92E-417B-8851-503582CBFB52}" destId="{2427F64B-75C9-4C54-8A25-C50AA8F56668}" srcOrd="3" destOrd="0" presId="urn:microsoft.com/office/officeart/2005/8/layout/cycle5"/>
    <dgm:cxn modelId="{719F1E7A-B975-4B00-A894-3474E37D4031}" type="presParOf" srcId="{B4CF4825-A92E-417B-8851-503582CBFB52}" destId="{EC2BA343-BDE8-43C8-8C0C-FC38AE17B58C}" srcOrd="4" destOrd="0" presId="urn:microsoft.com/office/officeart/2005/8/layout/cycle5"/>
    <dgm:cxn modelId="{A7813BC3-2754-4595-9E5C-84E99383D1A8}" type="presParOf" srcId="{B4CF4825-A92E-417B-8851-503582CBFB52}" destId="{D9AF10BE-AC53-4F45-A285-D743AB84CFA0}" srcOrd="5" destOrd="0" presId="urn:microsoft.com/office/officeart/2005/8/layout/cycle5"/>
    <dgm:cxn modelId="{C39629A7-90A7-4782-841F-490FD65B0409}" type="presParOf" srcId="{B4CF4825-A92E-417B-8851-503582CBFB52}" destId="{A997EA1C-F519-41F0-8F75-F2777B351B08}" srcOrd="6" destOrd="0" presId="urn:microsoft.com/office/officeart/2005/8/layout/cycle5"/>
    <dgm:cxn modelId="{CC253FA6-E7D4-4657-82BA-0C6DFFF7C94D}" type="presParOf" srcId="{B4CF4825-A92E-417B-8851-503582CBFB52}" destId="{67943E34-DC39-467D-9768-A50CF8415A56}" srcOrd="7" destOrd="0" presId="urn:microsoft.com/office/officeart/2005/8/layout/cycle5"/>
    <dgm:cxn modelId="{EC4928E7-F153-45B6-94D3-1D2C0812CEB2}" type="presParOf" srcId="{B4CF4825-A92E-417B-8851-503582CBFB52}" destId="{A122A20F-3052-4924-B404-98927974C524}" srcOrd="8" destOrd="0" presId="urn:microsoft.com/office/officeart/2005/8/layout/cycle5"/>
    <dgm:cxn modelId="{33AF02DA-5367-41A6-8CFD-E26146FCEF01}" type="presParOf" srcId="{B4CF4825-A92E-417B-8851-503582CBFB52}" destId="{E5524AFC-6541-4D47-B570-7D53ADB38495}" srcOrd="9" destOrd="0" presId="urn:microsoft.com/office/officeart/2005/8/layout/cycle5"/>
    <dgm:cxn modelId="{C19F62B8-16DB-4A99-B1C8-7BFE6C4DC36F}" type="presParOf" srcId="{B4CF4825-A92E-417B-8851-503582CBFB52}" destId="{6A1D601E-30AA-4E7D-82A0-1A7DDE1142E6}" srcOrd="10" destOrd="0" presId="urn:microsoft.com/office/officeart/2005/8/layout/cycle5"/>
    <dgm:cxn modelId="{A1D7B13B-4E33-4611-926E-75C8AA22B353}" type="presParOf" srcId="{B4CF4825-A92E-417B-8851-503582CBFB52}" destId="{9BB15AB8-A90E-47CA-87AC-1D69E3A46B59}" srcOrd="11" destOrd="0" presId="urn:microsoft.com/office/officeart/2005/8/layout/cycle5"/>
    <dgm:cxn modelId="{C6D3EE49-D09A-4FE4-80C0-5196538BC63C}" type="presParOf" srcId="{B4CF4825-A92E-417B-8851-503582CBFB52}" destId="{A18789AD-2403-4B18-A713-4A710C700579}" srcOrd="12" destOrd="0" presId="urn:microsoft.com/office/officeart/2005/8/layout/cycle5"/>
    <dgm:cxn modelId="{1C7D708B-6A13-47AE-A6D4-337D290A6907}" type="presParOf" srcId="{B4CF4825-A92E-417B-8851-503582CBFB52}" destId="{3B5B6A82-1745-4627-BB39-2EE93DEF458A}" srcOrd="13" destOrd="0" presId="urn:microsoft.com/office/officeart/2005/8/layout/cycle5"/>
    <dgm:cxn modelId="{DEE86C30-42D9-4BE0-8C53-4EEBE7E50992}" type="presParOf" srcId="{B4CF4825-A92E-417B-8851-503582CBFB52}" destId="{04EE43BE-0AC5-4FC7-A72B-9B18A08401A6}" srcOrd="14" destOrd="0" presId="urn:microsoft.com/office/officeart/2005/8/layout/cycle5"/>
    <dgm:cxn modelId="{C1466D86-9296-4549-9F8B-D4347C46A13E}" type="presParOf" srcId="{B4CF4825-A92E-417B-8851-503582CBFB52}" destId="{EA59E363-CAC5-466C-A2EF-A26C88E044BE}" srcOrd="15" destOrd="0" presId="urn:microsoft.com/office/officeart/2005/8/layout/cycle5"/>
    <dgm:cxn modelId="{6FCFC99C-1BB7-431A-9BE3-8BC2F192F293}" type="presParOf" srcId="{B4CF4825-A92E-417B-8851-503582CBFB52}" destId="{AADC9C3E-E68A-4DA2-95E6-8BD295E284F7}" srcOrd="16" destOrd="0" presId="urn:microsoft.com/office/officeart/2005/8/layout/cycle5"/>
    <dgm:cxn modelId="{37FE1940-F302-4002-9259-2DAE9148E01C}" type="presParOf" srcId="{B4CF4825-A92E-417B-8851-503582CBFB52}" destId="{67FF648A-6321-4A4C-894F-0DD97BD36700}" srcOrd="17" destOrd="0" presId="urn:microsoft.com/office/officeart/2005/8/layout/cycle5"/>
  </dgm:cxnLst>
  <dgm:bg>
    <a:noFill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1F9E9D-9A6D-4445-A22C-C904B08AA6B1}">
      <dsp:nvSpPr>
        <dsp:cNvPr id="0" name=""/>
        <dsp:cNvSpPr/>
      </dsp:nvSpPr>
      <dsp:spPr>
        <a:xfrm rot="4396374">
          <a:off x="2055430" y="1078272"/>
          <a:ext cx="4677714" cy="3262122"/>
        </a:xfrm>
        <a:prstGeom prst="swooshArrow">
          <a:avLst>
            <a:gd name="adj1" fmla="val 16310"/>
            <a:gd name="adj2" fmla="val 31370"/>
          </a:avLst>
        </a:prstGeom>
        <a:solidFill>
          <a:srgbClr val="F6EFE6"/>
        </a:solidFill>
        <a:ln w="25400" cap="flat" cmpd="sng" algn="ctr">
          <a:solidFill>
            <a:srgbClr val="E4D1B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D44C38-0A2A-42C4-97E3-8EF8B5C28271}">
      <dsp:nvSpPr>
        <dsp:cNvPr id="0" name=""/>
        <dsp:cNvSpPr/>
      </dsp:nvSpPr>
      <dsp:spPr>
        <a:xfrm>
          <a:off x="3807716" y="1504221"/>
          <a:ext cx="118126" cy="118126"/>
        </a:xfrm>
        <a:prstGeom prst="ellipse">
          <a:avLst/>
        </a:prstGeom>
        <a:solidFill>
          <a:srgbClr val="DEC6A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8A7399-FA42-4CAC-8D4E-0D8390BA73FD}">
      <dsp:nvSpPr>
        <dsp:cNvPr id="0" name=""/>
        <dsp:cNvSpPr/>
      </dsp:nvSpPr>
      <dsp:spPr>
        <a:xfrm>
          <a:off x="4616561" y="2156629"/>
          <a:ext cx="118126" cy="118126"/>
        </a:xfrm>
        <a:prstGeom prst="ellipse">
          <a:avLst/>
        </a:prstGeom>
        <a:solidFill>
          <a:srgbClr val="DEC6A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17E610-E195-494B-92F1-C81A41580687}">
      <dsp:nvSpPr>
        <dsp:cNvPr id="0" name=""/>
        <dsp:cNvSpPr/>
      </dsp:nvSpPr>
      <dsp:spPr>
        <a:xfrm>
          <a:off x="5222747" y="2919577"/>
          <a:ext cx="118126" cy="118126"/>
        </a:xfrm>
        <a:prstGeom prst="ellipse">
          <a:avLst/>
        </a:prstGeom>
        <a:solidFill>
          <a:srgbClr val="DEC6A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ED98A6-0E23-4BB2-ACA8-99A9219F8509}">
      <dsp:nvSpPr>
        <dsp:cNvPr id="0" name=""/>
        <dsp:cNvSpPr/>
      </dsp:nvSpPr>
      <dsp:spPr>
        <a:xfrm>
          <a:off x="1741850" y="0"/>
          <a:ext cx="2205397" cy="866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lt1"/>
            </a:buClr>
            <a:buSzPts val="1400"/>
            <a:buFont typeface="Arial"/>
            <a:buNone/>
          </a:pPr>
          <a:r>
            <a:rPr lang="pt-PT" sz="1400" kern="1200" dirty="0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</a:rPr>
            <a:t>15 variáveis e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lt1"/>
            </a:buClr>
            <a:buSzPts val="1400"/>
            <a:buFont typeface="Arial"/>
            <a:buNone/>
          </a:pPr>
          <a:r>
            <a:rPr lang="pt-PT" sz="1400" kern="1200" dirty="0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</a:rPr>
            <a:t>18835 observações</a:t>
          </a:r>
          <a:endParaRPr lang="pt-PT" sz="1400" kern="1200" dirty="0"/>
        </a:p>
      </dsp:txBody>
      <dsp:txXfrm>
        <a:off x="1741850" y="0"/>
        <a:ext cx="2205397" cy="866986"/>
      </dsp:txXfrm>
    </dsp:sp>
    <dsp:sp modelId="{A33FF154-39AD-4BAA-A7F2-183D8125BAF2}">
      <dsp:nvSpPr>
        <dsp:cNvPr id="0" name=""/>
        <dsp:cNvSpPr/>
      </dsp:nvSpPr>
      <dsp:spPr>
        <a:xfrm>
          <a:off x="4490825" y="1129792"/>
          <a:ext cx="3204429" cy="866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dirty="0"/>
            <a:t>Remoção de observações duplicadas</a:t>
          </a:r>
        </a:p>
      </dsp:txBody>
      <dsp:txXfrm>
        <a:off x="4490825" y="1129792"/>
        <a:ext cx="3204429" cy="866986"/>
      </dsp:txXfrm>
    </dsp:sp>
    <dsp:sp modelId="{B87ACB8D-D8F7-4164-A79E-90513B2A7B2A}">
      <dsp:nvSpPr>
        <dsp:cNvPr id="0" name=""/>
        <dsp:cNvSpPr/>
      </dsp:nvSpPr>
      <dsp:spPr>
        <a:xfrm>
          <a:off x="1741850" y="1782199"/>
          <a:ext cx="2563029" cy="866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dirty="0"/>
            <a:t>Análise de </a:t>
          </a:r>
          <a:r>
            <a:rPr lang="pt-PT" sz="1400" kern="1200" dirty="0" err="1"/>
            <a:t>multicolinearidade</a:t>
          </a:r>
          <a:r>
            <a:rPr lang="pt-PT" sz="1400" kern="1200" dirty="0"/>
            <a:t> </a:t>
          </a:r>
          <a:r>
            <a:rPr lang="en-US" sz="1400" kern="1200" dirty="0">
              <a:solidFill>
                <a:schemeClr val="dk1"/>
              </a:solidFill>
            </a:rPr>
            <a:t>e </a:t>
          </a:r>
          <a:r>
            <a:rPr lang="en-US" sz="1400" kern="1200" dirty="0" err="1">
              <a:solidFill>
                <a:schemeClr val="dk1"/>
              </a:solidFill>
            </a:rPr>
            <a:t>correlação</a:t>
          </a:r>
          <a:r>
            <a:rPr lang="en-US" sz="1400" kern="1200" dirty="0">
              <a:solidFill>
                <a:schemeClr val="dk1"/>
              </a:solidFill>
            </a:rPr>
            <a:t> entre </a:t>
          </a:r>
          <a:r>
            <a:rPr lang="en-US" sz="1400" kern="1200" dirty="0" err="1">
              <a:solidFill>
                <a:schemeClr val="dk1"/>
              </a:solidFill>
            </a:rPr>
            <a:t>variáveis</a:t>
          </a:r>
          <a:endParaRPr lang="pt-PT" sz="1400" kern="1200" dirty="0"/>
        </a:p>
      </dsp:txBody>
      <dsp:txXfrm>
        <a:off x="1741850" y="1782199"/>
        <a:ext cx="2563029" cy="866986"/>
      </dsp:txXfrm>
    </dsp:sp>
    <dsp:sp modelId="{F2340480-C133-420A-9C55-3D6BD1485CF5}">
      <dsp:nvSpPr>
        <dsp:cNvPr id="0" name=""/>
        <dsp:cNvSpPr/>
      </dsp:nvSpPr>
      <dsp:spPr>
        <a:xfrm>
          <a:off x="5735407" y="2545147"/>
          <a:ext cx="1966976" cy="866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kern="1200" dirty="0"/>
            <a:t>Seleção das variáveis significativas com step-</a:t>
          </a:r>
          <a:r>
            <a:rPr lang="pt-PT" sz="1400" kern="1200" dirty="0" err="1"/>
            <a:t>wise</a:t>
          </a:r>
          <a:endParaRPr lang="pt-PT" sz="1400" kern="1200" dirty="0"/>
        </a:p>
      </dsp:txBody>
      <dsp:txXfrm>
        <a:off x="5735407" y="2545147"/>
        <a:ext cx="1966976" cy="866986"/>
      </dsp:txXfrm>
    </dsp:sp>
    <dsp:sp modelId="{23308720-AA88-4C83-9477-E3CBBCAF6185}">
      <dsp:nvSpPr>
        <dsp:cNvPr id="0" name=""/>
        <dsp:cNvSpPr/>
      </dsp:nvSpPr>
      <dsp:spPr>
        <a:xfrm>
          <a:off x="4722117" y="4551680"/>
          <a:ext cx="2980266" cy="866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lt1"/>
            </a:buClr>
            <a:buSzPts val="1400"/>
            <a:buFont typeface="Arial"/>
            <a:buNone/>
          </a:pPr>
          <a:r>
            <a:rPr lang="pt-PT" sz="1400" kern="1200" dirty="0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</a:rPr>
            <a:t>10 variáveis e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lt1"/>
            </a:buClr>
            <a:buSzPts val="1400"/>
            <a:buFont typeface="Arial"/>
            <a:buNone/>
          </a:pPr>
          <a:r>
            <a:rPr lang="pt-PT" sz="1400" kern="1200" dirty="0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</a:rPr>
            <a:t>14924 observações</a:t>
          </a:r>
          <a:endParaRPr lang="pt-PT" sz="1400" kern="1200" dirty="0"/>
        </a:p>
      </dsp:txBody>
      <dsp:txXfrm>
        <a:off x="4722117" y="4551680"/>
        <a:ext cx="2980266" cy="8669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F0316-6566-4F39-A295-689D96CD8437}">
      <dsp:nvSpPr>
        <dsp:cNvPr id="0" name=""/>
        <dsp:cNvSpPr/>
      </dsp:nvSpPr>
      <dsp:spPr>
        <a:xfrm>
          <a:off x="2901115" y="1638"/>
          <a:ext cx="1454544" cy="945453"/>
        </a:xfrm>
        <a:prstGeom prst="roundRect">
          <a:avLst/>
        </a:prstGeom>
        <a:solidFill>
          <a:srgbClr val="F6EFE6"/>
        </a:solidFill>
        <a:ln w="25400" cap="flat" cmpd="sng" algn="ctr">
          <a:solidFill>
            <a:srgbClr val="DEC6A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>
              <a:solidFill>
                <a:sysClr val="windowText" lastClr="000000"/>
              </a:solidFill>
            </a:rPr>
            <a:t>Definição dos </a:t>
          </a:r>
          <a:r>
            <a:rPr lang="pt-PT" sz="1300" kern="1200" dirty="0" err="1">
              <a:solidFill>
                <a:sysClr val="windowText" lastClr="000000"/>
              </a:solidFill>
            </a:rPr>
            <a:t>hiperparâmetros</a:t>
          </a:r>
          <a:endParaRPr lang="pt-PT" sz="1300" kern="1200" dirty="0">
            <a:solidFill>
              <a:sysClr val="windowText" lastClr="000000"/>
            </a:solidFill>
          </a:endParaRPr>
        </a:p>
      </dsp:txBody>
      <dsp:txXfrm>
        <a:off x="2947268" y="47791"/>
        <a:ext cx="1362238" cy="853147"/>
      </dsp:txXfrm>
    </dsp:sp>
    <dsp:sp modelId="{0F0CF4C3-C7C1-4A11-B58F-D87A7D044307}">
      <dsp:nvSpPr>
        <dsp:cNvPr id="0" name=""/>
        <dsp:cNvSpPr/>
      </dsp:nvSpPr>
      <dsp:spPr>
        <a:xfrm>
          <a:off x="1400607" y="474365"/>
          <a:ext cx="4455561" cy="4455561"/>
        </a:xfrm>
        <a:custGeom>
          <a:avLst/>
          <a:gdLst/>
          <a:ahLst/>
          <a:cxnLst/>
          <a:rect l="0" t="0" r="0" b="0"/>
          <a:pathLst>
            <a:path>
              <a:moveTo>
                <a:pt x="3138094" y="194474"/>
              </a:moveTo>
              <a:arcTo wR="2227780" hR="2227780" stAng="17647087" swAng="924220"/>
            </a:path>
          </a:pathLst>
        </a:custGeom>
        <a:noFill/>
        <a:ln w="9525" cap="flat" cmpd="sng" algn="ctr">
          <a:solidFill>
            <a:srgbClr val="DEC6AA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27F64B-75C9-4C54-8A25-C50AA8F56668}">
      <dsp:nvSpPr>
        <dsp:cNvPr id="0" name=""/>
        <dsp:cNvSpPr/>
      </dsp:nvSpPr>
      <dsp:spPr>
        <a:xfrm>
          <a:off x="4830430" y="1115528"/>
          <a:ext cx="1454544" cy="945453"/>
        </a:xfrm>
        <a:prstGeom prst="roundRect">
          <a:avLst/>
        </a:prstGeom>
        <a:solidFill>
          <a:srgbClr val="F6EFE6"/>
        </a:solidFill>
        <a:ln w="25400" cap="flat" cmpd="sng" algn="ctr">
          <a:solidFill>
            <a:srgbClr val="DEC6A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>
              <a:solidFill>
                <a:sysClr val="windowText" lastClr="000000"/>
              </a:solidFill>
            </a:rPr>
            <a:t>Implementação de cross-</a:t>
          </a:r>
          <a:r>
            <a:rPr lang="pt-PT" sz="1300" kern="1200" dirty="0" err="1">
              <a:solidFill>
                <a:sysClr val="windowText" lastClr="000000"/>
              </a:solidFill>
            </a:rPr>
            <a:t>validation</a:t>
          </a:r>
          <a:endParaRPr lang="pt-PT" sz="1300" kern="1200" dirty="0">
            <a:solidFill>
              <a:sysClr val="windowText" lastClr="000000"/>
            </a:solidFill>
          </a:endParaRPr>
        </a:p>
      </dsp:txBody>
      <dsp:txXfrm>
        <a:off x="4876583" y="1161681"/>
        <a:ext cx="1362238" cy="853147"/>
      </dsp:txXfrm>
    </dsp:sp>
    <dsp:sp modelId="{D9AF10BE-AC53-4F45-A285-D743AB84CFA0}">
      <dsp:nvSpPr>
        <dsp:cNvPr id="0" name=""/>
        <dsp:cNvSpPr/>
      </dsp:nvSpPr>
      <dsp:spPr>
        <a:xfrm>
          <a:off x="1400607" y="474365"/>
          <a:ext cx="4455561" cy="4455561"/>
        </a:xfrm>
        <a:custGeom>
          <a:avLst/>
          <a:gdLst/>
          <a:ahLst/>
          <a:cxnLst/>
          <a:rect l="0" t="0" r="0" b="0"/>
          <a:pathLst>
            <a:path>
              <a:moveTo>
                <a:pt x="4420829" y="1835933"/>
              </a:moveTo>
              <a:arcTo wR="2227780" hR="2227780" stAng="20992168" swAng="1215664"/>
            </a:path>
          </a:pathLst>
        </a:custGeom>
        <a:noFill/>
        <a:ln w="9525" cap="flat" cmpd="sng" algn="ctr">
          <a:solidFill>
            <a:srgbClr val="DEC6AA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97EA1C-F519-41F0-8F75-F2777B351B08}">
      <dsp:nvSpPr>
        <dsp:cNvPr id="0" name=""/>
        <dsp:cNvSpPr/>
      </dsp:nvSpPr>
      <dsp:spPr>
        <a:xfrm>
          <a:off x="4830430" y="3343309"/>
          <a:ext cx="1454544" cy="945453"/>
        </a:xfrm>
        <a:prstGeom prst="roundRect">
          <a:avLst/>
        </a:prstGeom>
        <a:solidFill>
          <a:srgbClr val="F6EFE6"/>
        </a:solidFill>
        <a:ln w="25400" cap="flat" cmpd="sng" algn="ctr">
          <a:solidFill>
            <a:srgbClr val="DEC6A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>
              <a:solidFill>
                <a:sysClr val="windowText" lastClr="000000"/>
              </a:solidFill>
            </a:rPr>
            <a:t>Descobrir o melhor modelo </a:t>
          </a:r>
        </a:p>
      </dsp:txBody>
      <dsp:txXfrm>
        <a:off x="4876583" y="3389462"/>
        <a:ext cx="1362238" cy="853147"/>
      </dsp:txXfrm>
    </dsp:sp>
    <dsp:sp modelId="{A122A20F-3052-4924-B404-98927974C524}">
      <dsp:nvSpPr>
        <dsp:cNvPr id="0" name=""/>
        <dsp:cNvSpPr/>
      </dsp:nvSpPr>
      <dsp:spPr>
        <a:xfrm>
          <a:off x="1400607" y="474365"/>
          <a:ext cx="4455561" cy="4455561"/>
        </a:xfrm>
        <a:custGeom>
          <a:avLst/>
          <a:gdLst/>
          <a:ahLst/>
          <a:cxnLst/>
          <a:rect l="0" t="0" r="0" b="0"/>
          <a:pathLst>
            <a:path>
              <a:moveTo>
                <a:pt x="3645477" y="3946252"/>
              </a:moveTo>
              <a:arcTo wR="2227780" hR="2227780" stAng="3028693" swAng="924220"/>
            </a:path>
          </a:pathLst>
        </a:custGeom>
        <a:noFill/>
        <a:ln w="9525" cap="flat" cmpd="sng" algn="ctr">
          <a:solidFill>
            <a:srgbClr val="DEC6AA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524AFC-6541-4D47-B570-7D53ADB38495}">
      <dsp:nvSpPr>
        <dsp:cNvPr id="0" name=""/>
        <dsp:cNvSpPr/>
      </dsp:nvSpPr>
      <dsp:spPr>
        <a:xfrm>
          <a:off x="2901115" y="4457199"/>
          <a:ext cx="1454544" cy="945453"/>
        </a:xfrm>
        <a:prstGeom prst="roundRect">
          <a:avLst/>
        </a:prstGeom>
        <a:solidFill>
          <a:srgbClr val="F6EFE6"/>
        </a:solidFill>
        <a:ln w="25400" cap="flat" cmpd="sng" algn="ctr">
          <a:solidFill>
            <a:srgbClr val="DEC6A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>
              <a:solidFill>
                <a:sysClr val="windowText" lastClr="000000"/>
              </a:solidFill>
            </a:rPr>
            <a:t>Treino do melhor modelo</a:t>
          </a:r>
        </a:p>
      </dsp:txBody>
      <dsp:txXfrm>
        <a:off x="2947268" y="4503352"/>
        <a:ext cx="1362238" cy="853147"/>
      </dsp:txXfrm>
    </dsp:sp>
    <dsp:sp modelId="{9BB15AB8-A90E-47CA-87AC-1D69E3A46B59}">
      <dsp:nvSpPr>
        <dsp:cNvPr id="0" name=""/>
        <dsp:cNvSpPr/>
      </dsp:nvSpPr>
      <dsp:spPr>
        <a:xfrm>
          <a:off x="1400607" y="474365"/>
          <a:ext cx="4455561" cy="4455561"/>
        </a:xfrm>
        <a:custGeom>
          <a:avLst/>
          <a:gdLst/>
          <a:ahLst/>
          <a:cxnLst/>
          <a:rect l="0" t="0" r="0" b="0"/>
          <a:pathLst>
            <a:path>
              <a:moveTo>
                <a:pt x="1317467" y="4261087"/>
              </a:moveTo>
              <a:arcTo wR="2227780" hR="2227780" stAng="6847087" swAng="924220"/>
            </a:path>
          </a:pathLst>
        </a:custGeom>
        <a:noFill/>
        <a:ln w="9525" cap="flat" cmpd="sng" algn="ctr">
          <a:solidFill>
            <a:srgbClr val="DEC6AA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8789AD-2403-4B18-A713-4A710C700579}">
      <dsp:nvSpPr>
        <dsp:cNvPr id="0" name=""/>
        <dsp:cNvSpPr/>
      </dsp:nvSpPr>
      <dsp:spPr>
        <a:xfrm>
          <a:off x="971801" y="3343309"/>
          <a:ext cx="1454544" cy="945453"/>
        </a:xfrm>
        <a:prstGeom prst="roundRect">
          <a:avLst/>
        </a:prstGeom>
        <a:solidFill>
          <a:srgbClr val="F6EFE6"/>
        </a:solidFill>
        <a:ln w="25400" cap="flat" cmpd="sng" algn="ctr">
          <a:solidFill>
            <a:srgbClr val="DEC6A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>
              <a:solidFill>
                <a:sysClr val="windowText" lastClr="000000"/>
              </a:solidFill>
            </a:rPr>
            <a:t>Previstos</a:t>
          </a:r>
        </a:p>
      </dsp:txBody>
      <dsp:txXfrm>
        <a:off x="1017954" y="3389462"/>
        <a:ext cx="1362238" cy="853147"/>
      </dsp:txXfrm>
    </dsp:sp>
    <dsp:sp modelId="{04EE43BE-0AC5-4FC7-A72B-9B18A08401A6}">
      <dsp:nvSpPr>
        <dsp:cNvPr id="0" name=""/>
        <dsp:cNvSpPr/>
      </dsp:nvSpPr>
      <dsp:spPr>
        <a:xfrm>
          <a:off x="1400607" y="474365"/>
          <a:ext cx="4455561" cy="4455561"/>
        </a:xfrm>
        <a:custGeom>
          <a:avLst/>
          <a:gdLst/>
          <a:ahLst/>
          <a:cxnLst/>
          <a:rect l="0" t="0" r="0" b="0"/>
          <a:pathLst>
            <a:path>
              <a:moveTo>
                <a:pt x="34732" y="2619628"/>
              </a:moveTo>
              <a:arcTo wR="2227780" hR="2227780" stAng="10192168" swAng="1215664"/>
            </a:path>
          </a:pathLst>
        </a:custGeom>
        <a:noFill/>
        <a:ln w="9525" cap="flat" cmpd="sng" algn="ctr">
          <a:solidFill>
            <a:srgbClr val="DEC6AA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59E363-CAC5-466C-A2EF-A26C88E044BE}">
      <dsp:nvSpPr>
        <dsp:cNvPr id="0" name=""/>
        <dsp:cNvSpPr/>
      </dsp:nvSpPr>
      <dsp:spPr>
        <a:xfrm>
          <a:off x="971801" y="1115528"/>
          <a:ext cx="1454544" cy="945453"/>
        </a:xfrm>
        <a:prstGeom prst="roundRect">
          <a:avLst/>
        </a:prstGeom>
        <a:solidFill>
          <a:srgbClr val="F6EFE6"/>
        </a:solidFill>
        <a:ln w="25400" cap="flat" cmpd="sng" algn="ctr">
          <a:solidFill>
            <a:srgbClr val="DEC6A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>
              <a:solidFill>
                <a:sysClr val="windowText" lastClr="000000"/>
              </a:solidFill>
            </a:rPr>
            <a:t>Medidas de performance</a:t>
          </a:r>
        </a:p>
      </dsp:txBody>
      <dsp:txXfrm>
        <a:off x="1017954" y="1161681"/>
        <a:ext cx="1362238" cy="853147"/>
      </dsp:txXfrm>
    </dsp:sp>
    <dsp:sp modelId="{67FF648A-6321-4A4C-894F-0DD97BD36700}">
      <dsp:nvSpPr>
        <dsp:cNvPr id="0" name=""/>
        <dsp:cNvSpPr/>
      </dsp:nvSpPr>
      <dsp:spPr>
        <a:xfrm>
          <a:off x="1400607" y="474365"/>
          <a:ext cx="4455561" cy="4455561"/>
        </a:xfrm>
        <a:custGeom>
          <a:avLst/>
          <a:gdLst/>
          <a:ahLst/>
          <a:cxnLst/>
          <a:rect l="0" t="0" r="0" b="0"/>
          <a:pathLst>
            <a:path>
              <a:moveTo>
                <a:pt x="810084" y="509309"/>
              </a:moveTo>
              <a:arcTo wR="2227780" hR="2227780" stAng="13828693" swAng="924220"/>
            </a:path>
          </a:pathLst>
        </a:custGeom>
        <a:noFill/>
        <a:ln w="9525" cap="flat" cmpd="sng" algn="ctr">
          <a:solidFill>
            <a:srgbClr val="DEC6AA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2150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18c63bef7_1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2e18c63bef7_1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18c63bef7_1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2e18c63bef7_1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546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18c63bef7_1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2e18c63bef7_1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4586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18c63bef7_1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2e18c63bef7_1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5420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18c63bef7_1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2e18c63bef7_1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8970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5329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18c63bef7_1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2e18c63bef7_1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4689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18c63bef7_1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2e18c63bef7_1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60515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18c63bef7_1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2e18c63bef7_1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93788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18c63bef7_1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2e18c63bef7_1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02343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18c63bef7_9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2e18c63bef7_9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18c63bef7_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2e18c63bef7_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18c63bef7_1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2e18c63bef7_1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27700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18c63bef7_1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2e18c63bef7_1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43301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18c63bef7_1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2e18c63bef7_1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09047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e18c63bef7_1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2e18c63bef7_1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e18c63bef7_9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2e18c63bef7_9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18c63bef7_1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2e18c63bef7_1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8792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18c63bef7_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2e18c63bef7_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16616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18c63bef7_1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2e18c63bef7_1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41537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18c63bef7_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2e18c63bef7_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27673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18c63bef7_1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2e18c63bef7_1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3001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e18bfcb5c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2e18bfcb5c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e18bfcb5c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e18bfcb5c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e18bfcb5c0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2e18bfcb5c0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e18bfcb5c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e18bfcb5c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60518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o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Objet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c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Dupl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e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4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microsoft.com/office/2007/relationships/diagramDrawing" Target="../diagrams/drawing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D50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186488" y="3113202"/>
            <a:ext cx="55452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preditivos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popularidade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músicas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186488" y="6318448"/>
            <a:ext cx="554513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2023/2024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68288" y="5456674"/>
            <a:ext cx="5545137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 Rita Silva (121764)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Vasco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Margarido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pt-PT" dirty="0"/>
              <a:t>118611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Vitor Tavares (</a:t>
            </a:r>
            <a:r>
              <a:rPr lang="pt-PT" dirty="0"/>
              <a:t>79335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Professor Luís Silva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Aprendizagem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Computacional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3" descr="A black background with a black squar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605" y="0"/>
            <a:ext cx="8844075" cy="2141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9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097102" y="287429"/>
            <a:ext cx="6723424" cy="461624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38138" y="2342372"/>
            <a:ext cx="115158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seres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humanos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têm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forte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ligação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canções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músicas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há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indícios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que a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música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trazer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benefícios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à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saúde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física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mental de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diversas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estudos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têm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sido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realizados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entender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melhor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músicas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popularidade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Desta forma,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pretende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-se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preditivos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popularidade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música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tendo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base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diferentes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variáveis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Portanto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foram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implementados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seguintes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285750" lvl="1" indent="-285750"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Boosting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Redes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neuronais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artificiais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Máquina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vetores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suporte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304800" y="1739694"/>
            <a:ext cx="389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9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124262" y="287429"/>
            <a:ext cx="669626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219075" y="1621225"/>
            <a:ext cx="7077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Análise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exploratória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 dos dados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</a:rPr>
              <a:t>Histogramas</a:t>
            </a:r>
            <a:endParaRPr dirty="0"/>
          </a:p>
        </p:txBody>
      </p:sp>
      <p:sp>
        <p:nvSpPr>
          <p:cNvPr id="3" name="AutoShape 4" descr="Imagem">
            <a:extLst>
              <a:ext uri="{FF2B5EF4-FFF2-40B4-BE49-F238E27FC236}">
                <a16:creationId xmlns:a16="http://schemas.microsoft.com/office/drawing/2014/main" id="{B47EF6C0-FD99-5213-6891-7F5AE193BC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152835" cy="21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4" name="Imagem 3" descr="Uma imagem com diagrama, Gráfico, file, captura de ecrã&#10;&#10;Descrição gerada automaticamente">
            <a:extLst>
              <a:ext uri="{FF2B5EF4-FFF2-40B4-BE49-F238E27FC236}">
                <a16:creationId xmlns:a16="http://schemas.microsoft.com/office/drawing/2014/main" id="{FD833744-6FA6-6A01-6F5A-7CF981B4F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091" y="1246869"/>
            <a:ext cx="4435198" cy="273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m 5" descr="Uma imagem com diagrama, captura de ecrã, Gráfico, texto&#10;&#10;Descrição gerada automaticamente">
            <a:extLst>
              <a:ext uri="{FF2B5EF4-FFF2-40B4-BE49-F238E27FC236}">
                <a16:creationId xmlns:a16="http://schemas.microsoft.com/office/drawing/2014/main" id="{3B1673AD-754B-CAB1-4DDD-5433B6E392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464" y="2841502"/>
            <a:ext cx="4435199" cy="273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m 7" descr="Uma imagem com texto, diagrama, Gráfico, captura de ecrã&#10;&#10;Descrição gerada automaticamente">
            <a:extLst>
              <a:ext uri="{FF2B5EF4-FFF2-40B4-BE49-F238E27FC236}">
                <a16:creationId xmlns:a16="http://schemas.microsoft.com/office/drawing/2014/main" id="{C10AC530-C789-2C90-928B-3D7E90E126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1091" y="4061434"/>
            <a:ext cx="4435191" cy="273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8523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9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042780" y="287429"/>
            <a:ext cx="677774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219075" y="1621225"/>
            <a:ext cx="7077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Análise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exploratória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 dos dados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Boxplots</a:t>
            </a:r>
            <a:endParaRPr dirty="0"/>
          </a:p>
        </p:txBody>
      </p:sp>
      <p:sp>
        <p:nvSpPr>
          <p:cNvPr id="3" name="AutoShape 4" descr="Imagem">
            <a:extLst>
              <a:ext uri="{FF2B5EF4-FFF2-40B4-BE49-F238E27FC236}">
                <a16:creationId xmlns:a16="http://schemas.microsoft.com/office/drawing/2014/main" id="{B47EF6C0-FD99-5213-6891-7F5AE193BC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152835" cy="21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4" name="Imagem 3" descr="Uma imagem com texto, captura de ecrã, file, Gráfico&#10;&#10;Descrição gerada automaticamente">
            <a:extLst>
              <a:ext uri="{FF2B5EF4-FFF2-40B4-BE49-F238E27FC236}">
                <a16:creationId xmlns:a16="http://schemas.microsoft.com/office/drawing/2014/main" id="{CD6230F0-9DFC-1ED5-7429-27E8AC7B5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0069" y="1270000"/>
            <a:ext cx="4435200" cy="273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m 5" descr="Uma imagem com texto, captura de ecrã, file, Gráfico&#10;&#10;Descrição gerada automaticamente">
            <a:extLst>
              <a:ext uri="{FF2B5EF4-FFF2-40B4-BE49-F238E27FC236}">
                <a16:creationId xmlns:a16="http://schemas.microsoft.com/office/drawing/2014/main" id="{9F4DD8EC-2D84-31DC-AB20-212DFD8F01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6654" y="4061434"/>
            <a:ext cx="4435200" cy="273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m 7" descr="Uma imagem com texto, captura de ecrã, file, Gráfico&#10;&#10;Descrição gerada automaticamente">
            <a:extLst>
              <a:ext uri="{FF2B5EF4-FFF2-40B4-BE49-F238E27FC236}">
                <a16:creationId xmlns:a16="http://schemas.microsoft.com/office/drawing/2014/main" id="{67DC81A5-FE7E-C67C-77E0-8B26902CD1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464" y="2649518"/>
            <a:ext cx="4435189" cy="273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069941" y="287429"/>
            <a:ext cx="675054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219075" y="1621219"/>
            <a:ext cx="609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Tratamento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 dos dados</a:t>
            </a:r>
            <a:endParaRPr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FEFC83CB-D87F-795C-330F-CC610219BB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8384662"/>
              </p:ext>
            </p:extLst>
          </p:nvPr>
        </p:nvGraphicFramePr>
        <p:xfrm>
          <a:off x="3267075" y="1346390"/>
          <a:ext cx="944423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151422" y="287429"/>
            <a:ext cx="66690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0" y="1233781"/>
            <a:ext cx="10157824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Tratamento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 dos dados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</a:rPr>
              <a:t>Remoção</a:t>
            </a:r>
            <a:r>
              <a:rPr lang="en-US" dirty="0">
                <a:solidFill>
                  <a:schemeClr val="dk1"/>
                </a:solidFill>
              </a:rPr>
              <a:t> da </a:t>
            </a:r>
            <a:r>
              <a:rPr lang="en-US" dirty="0" err="1">
                <a:solidFill>
                  <a:schemeClr val="dk1"/>
                </a:solidFill>
              </a:rPr>
              <a:t>variável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song_name</a:t>
            </a:r>
            <a:r>
              <a:rPr lang="en-US" dirty="0">
                <a:solidFill>
                  <a:schemeClr val="dk1"/>
                </a:solidFill>
              </a:rPr>
              <a:t> e de </a:t>
            </a:r>
            <a:r>
              <a:rPr lang="en-US" dirty="0" err="1">
                <a:solidFill>
                  <a:schemeClr val="dk1"/>
                </a:solidFill>
              </a:rPr>
              <a:t>observações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duplicadas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AFBC7F1-2AA0-AC5E-65C0-890A45865C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2633"/>
          <a:stretch/>
        </p:blipFill>
        <p:spPr>
          <a:xfrm>
            <a:off x="1332697" y="2076886"/>
            <a:ext cx="4410075" cy="6135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EC05F98-268F-8F75-ED11-44BB2B72E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0232" y="3420331"/>
            <a:ext cx="4962525" cy="628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B50A1B9-E12D-EA46-882C-5263B83F3F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1470"/>
          <a:stretch/>
        </p:blipFill>
        <p:spPr>
          <a:xfrm>
            <a:off x="7379591" y="5086923"/>
            <a:ext cx="4410075" cy="628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5F200F46-DA1A-5D2D-E7B9-C3D86CA649EE}"/>
              </a:ext>
            </a:extLst>
          </p:cNvPr>
          <p:cNvSpPr txBox="1"/>
          <p:nvPr/>
        </p:nvSpPr>
        <p:spPr>
          <a:xfrm>
            <a:off x="818989" y="2170933"/>
            <a:ext cx="51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FE67E95-59EE-1549-AB08-66DC91526084}"/>
              </a:ext>
            </a:extLst>
          </p:cNvPr>
          <p:cNvSpPr txBox="1"/>
          <p:nvPr/>
        </p:nvSpPr>
        <p:spPr>
          <a:xfrm>
            <a:off x="3406524" y="3549990"/>
            <a:ext cx="51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3137D6E-8BDA-2CB6-B288-2C15763532BC}"/>
              </a:ext>
            </a:extLst>
          </p:cNvPr>
          <p:cNvSpPr txBox="1"/>
          <p:nvPr/>
        </p:nvSpPr>
        <p:spPr>
          <a:xfrm>
            <a:off x="6896705" y="5211024"/>
            <a:ext cx="51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</a:t>
            </a:r>
          </a:p>
        </p:txBody>
      </p: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21C8E380-6AF3-E1E8-3B8F-68FE0521294B}"/>
              </a:ext>
            </a:extLst>
          </p:cNvPr>
          <p:cNvCxnSpPr/>
          <p:nvPr/>
        </p:nvCxnSpPr>
        <p:spPr>
          <a:xfrm>
            <a:off x="9003488" y="3734656"/>
            <a:ext cx="1154336" cy="0"/>
          </a:xfrm>
          <a:prstGeom prst="straightConnector1">
            <a:avLst/>
          </a:prstGeom>
          <a:ln w="19050">
            <a:solidFill>
              <a:srgbClr val="DEC6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34DEE48-18C3-49A0-67B8-7600A0ABD82D}"/>
              </a:ext>
            </a:extLst>
          </p:cNvPr>
          <p:cNvSpPr txBox="1"/>
          <p:nvPr/>
        </p:nvSpPr>
        <p:spPr>
          <a:xfrm>
            <a:off x="1189333" y="4337320"/>
            <a:ext cx="149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266FD03-384A-EDDB-218E-1374CDE1E80A}"/>
              </a:ext>
            </a:extLst>
          </p:cNvPr>
          <p:cNvSpPr txBox="1"/>
          <p:nvPr/>
        </p:nvSpPr>
        <p:spPr>
          <a:xfrm>
            <a:off x="10205110" y="3344776"/>
            <a:ext cx="1395162" cy="738664"/>
          </a:xfrm>
          <a:prstGeom prst="rect">
            <a:avLst/>
          </a:prstGeom>
          <a:solidFill>
            <a:srgbClr val="F6EFE6"/>
          </a:solidFill>
          <a:ln>
            <a:solidFill>
              <a:srgbClr val="DEC6A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3909 observações duplicadas</a:t>
            </a:r>
          </a:p>
        </p:txBody>
      </p:sp>
    </p:spTree>
    <p:extLst>
      <p:ext uri="{BB962C8B-B14F-4D97-AF65-F5344CB8AC3E}">
        <p14:creationId xmlns:p14="http://schemas.microsoft.com/office/powerpoint/2010/main" val="849326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033727" y="287429"/>
            <a:ext cx="678676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0" y="1233781"/>
            <a:ext cx="10157824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Tratamento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 dos dados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</a:rPr>
              <a:t>Análise</a:t>
            </a:r>
            <a:r>
              <a:rPr lang="en-US" dirty="0">
                <a:solidFill>
                  <a:schemeClr val="dk1"/>
                </a:solidFill>
              </a:rPr>
              <a:t> de </a:t>
            </a:r>
            <a:r>
              <a:rPr lang="en-US" dirty="0" err="1">
                <a:solidFill>
                  <a:schemeClr val="dk1"/>
                </a:solidFill>
              </a:rPr>
              <a:t>multicolinearidade</a:t>
            </a:r>
            <a:r>
              <a:rPr lang="en-US" dirty="0">
                <a:solidFill>
                  <a:schemeClr val="dk1"/>
                </a:solidFill>
              </a:rPr>
              <a:t> e </a:t>
            </a:r>
            <a:r>
              <a:rPr lang="en-US" dirty="0" err="1">
                <a:solidFill>
                  <a:schemeClr val="dk1"/>
                </a:solidFill>
              </a:rPr>
              <a:t>correlação</a:t>
            </a:r>
            <a:r>
              <a:rPr lang="en-US" dirty="0">
                <a:solidFill>
                  <a:schemeClr val="dk1"/>
                </a:solidFill>
              </a:rPr>
              <a:t> entre </a:t>
            </a:r>
            <a:r>
              <a:rPr lang="en-US" dirty="0" err="1">
                <a:solidFill>
                  <a:schemeClr val="dk1"/>
                </a:solidFill>
              </a:rPr>
              <a:t>variáveis</a:t>
            </a:r>
            <a:endParaRPr dirty="0"/>
          </a:p>
        </p:txBody>
      </p:sp>
      <p:pic>
        <p:nvPicPr>
          <p:cNvPr id="6" name="Imagem 5" descr="Uma imagem com texto, captura de ecrã, diagrama, Tipo de letra&#10;&#10;Descrição gerada automaticamente">
            <a:extLst>
              <a:ext uri="{FF2B5EF4-FFF2-40B4-BE49-F238E27FC236}">
                <a16:creationId xmlns:a16="http://schemas.microsoft.com/office/drawing/2014/main" id="{BBCF90CA-B74F-A935-2118-7C2BABD9F3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447" t="4452" r="14086"/>
          <a:stretch/>
        </p:blipFill>
        <p:spPr>
          <a:xfrm>
            <a:off x="0" y="1910849"/>
            <a:ext cx="5838976" cy="4754880"/>
          </a:xfrm>
          <a:prstGeom prst="rect">
            <a:avLst/>
          </a:prstGeom>
        </p:spPr>
      </p:pic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C98CD24-D254-3B83-2A0F-C0A9B6B2B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16814"/>
              </p:ext>
            </p:extLst>
          </p:nvPr>
        </p:nvGraphicFramePr>
        <p:xfrm>
          <a:off x="8505857" y="1447001"/>
          <a:ext cx="3626303" cy="5191760"/>
        </p:xfrm>
        <a:graphic>
          <a:graphicData uri="http://schemas.openxmlformats.org/drawingml/2006/table">
            <a:tbl>
              <a:tblPr firstRow="1" bandRow="1">
                <a:tableStyleId>{F65BD0AB-35EC-46CF-8008-AF1E710A26E6}</a:tableStyleId>
              </a:tblPr>
              <a:tblGrid>
                <a:gridCol w="2324243">
                  <a:extLst>
                    <a:ext uri="{9D8B030D-6E8A-4147-A177-3AD203B41FA5}">
                      <a16:colId xmlns:a16="http://schemas.microsoft.com/office/drawing/2014/main" val="2147104087"/>
                    </a:ext>
                  </a:extLst>
                </a:gridCol>
                <a:gridCol w="1302060">
                  <a:extLst>
                    <a:ext uri="{9D8B030D-6E8A-4147-A177-3AD203B41FA5}">
                      <a16:colId xmlns:a16="http://schemas.microsoft.com/office/drawing/2014/main" val="2142945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b="1" dirty="0"/>
                        <a:t>Variável</a:t>
                      </a:r>
                    </a:p>
                  </a:txBody>
                  <a:tcPr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VIF</a:t>
                      </a:r>
                    </a:p>
                  </a:txBody>
                  <a:tcPr anchor="ctr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863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song_duration_ms</a:t>
                      </a:r>
                      <a:endParaRPr lang="pt-PT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1.045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890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instrumentalness</a:t>
                      </a:r>
                      <a:endParaRPr lang="pt-PT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1.263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818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audio_mode</a:t>
                      </a:r>
                      <a:endParaRPr lang="pt-PT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1.059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621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audio_valence</a:t>
                      </a:r>
                      <a:endParaRPr lang="pt-PT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1.414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975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acousticness</a:t>
                      </a:r>
                      <a:endParaRPr lang="pt-PT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2.040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7469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key</a:t>
                      </a:r>
                      <a:endParaRPr lang="pt-PT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1.033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210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speechiness</a:t>
                      </a:r>
                      <a:endParaRPr lang="pt-PT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1.094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94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danceability</a:t>
                      </a:r>
                      <a:endParaRPr lang="pt-PT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1.425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9363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liveness</a:t>
                      </a:r>
                      <a:endParaRPr lang="pt-PT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1.057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2750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tempo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1.071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089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energy</a:t>
                      </a:r>
                      <a:endParaRPr lang="pt-PT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3.875</a:t>
                      </a:r>
                    </a:p>
                  </a:txBody>
                  <a:tcPr anchor="ctr">
                    <a:solidFill>
                      <a:srgbClr val="FFC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198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loudness</a:t>
                      </a:r>
                      <a:endParaRPr lang="pt-PT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3.020</a:t>
                      </a:r>
                    </a:p>
                  </a:txBody>
                  <a:tcPr anchor="ctr">
                    <a:solidFill>
                      <a:srgbClr val="FFC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82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time_signature</a:t>
                      </a:r>
                      <a:endParaRPr lang="pt-PT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1.043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3899558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19A13602-F0C7-362E-D53D-1B47D9900E65}"/>
              </a:ext>
            </a:extLst>
          </p:cNvPr>
          <p:cNvSpPr/>
          <p:nvPr/>
        </p:nvSpPr>
        <p:spPr>
          <a:xfrm>
            <a:off x="2270595" y="3770617"/>
            <a:ext cx="313128" cy="400692"/>
          </a:xfrm>
          <a:prstGeom prst="ellipse">
            <a:avLst/>
          </a:prstGeom>
          <a:noFill/>
          <a:ln w="28575">
            <a:solidFill>
              <a:srgbClr val="FF89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78C0C77-6897-401B-2D18-398FF7C605A4}"/>
              </a:ext>
            </a:extLst>
          </p:cNvPr>
          <p:cNvSpPr txBox="1"/>
          <p:nvPr/>
        </p:nvSpPr>
        <p:spPr>
          <a:xfrm>
            <a:off x="5479386" y="3091796"/>
            <a:ext cx="2822133" cy="1600438"/>
          </a:xfrm>
          <a:prstGeom prst="rect">
            <a:avLst/>
          </a:prstGeom>
          <a:solidFill>
            <a:srgbClr val="F6EFE6"/>
          </a:solidFill>
          <a:ln>
            <a:solidFill>
              <a:srgbClr val="DEC6A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PT" dirty="0"/>
              <a:t>Como as variáveis </a:t>
            </a:r>
            <a:r>
              <a:rPr lang="pt-PT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loudness</a:t>
            </a:r>
            <a:r>
              <a:rPr lang="pt-PT" dirty="0"/>
              <a:t> e </a:t>
            </a:r>
            <a:r>
              <a:rPr lang="pt-PT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energy</a:t>
            </a:r>
            <a:r>
              <a:rPr lang="pt-PT" dirty="0"/>
              <a:t> apresentavam correlação entre si e </a:t>
            </a:r>
            <a:r>
              <a:rPr lang="pt-PT" dirty="0" err="1"/>
              <a:t>multicolinearidade</a:t>
            </a:r>
            <a:r>
              <a:rPr lang="pt-PT" dirty="0"/>
              <a:t> (VIF&gt;3), foi decidido </a:t>
            </a:r>
            <a:r>
              <a:rPr lang="pt-PT" b="1" dirty="0"/>
              <a:t>remover a variável </a:t>
            </a:r>
            <a:r>
              <a:rPr lang="pt-PT" b="1" dirty="0" err="1"/>
              <a:t>energy</a:t>
            </a:r>
            <a:r>
              <a:rPr lang="pt-PT" dirty="0"/>
              <a:t>, uma vez que apresenta um valor de VIF mais elevado.</a:t>
            </a:r>
          </a:p>
        </p:txBody>
      </p:sp>
    </p:spTree>
    <p:extLst>
      <p:ext uri="{BB962C8B-B14F-4D97-AF65-F5344CB8AC3E}">
        <p14:creationId xmlns:p14="http://schemas.microsoft.com/office/powerpoint/2010/main" val="106936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4970352" y="287429"/>
            <a:ext cx="685013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0" y="1233781"/>
            <a:ext cx="10157824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Tratamento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 dos dados</a:t>
            </a:r>
          </a:p>
          <a:p>
            <a:pPr lvl="0"/>
            <a:r>
              <a:rPr lang="pt-PT" sz="1400" dirty="0"/>
              <a:t>Seleção das variáveis significativas com step-</a:t>
            </a:r>
            <a:r>
              <a:rPr lang="pt-PT" sz="1400" dirty="0" err="1"/>
              <a:t>wise</a:t>
            </a:r>
            <a:endParaRPr lang="pt-PT" sz="14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F200F46-DA1A-5D2D-E7B9-C3D86CA649EE}"/>
              </a:ext>
            </a:extLst>
          </p:cNvPr>
          <p:cNvSpPr txBox="1"/>
          <p:nvPr/>
        </p:nvSpPr>
        <p:spPr>
          <a:xfrm>
            <a:off x="818989" y="2679319"/>
            <a:ext cx="51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210CDAC-5CC7-776C-6863-BDBBB0AC5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697" y="2354398"/>
            <a:ext cx="8667750" cy="1019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Conexão reta unidirecional 7">
            <a:extLst>
              <a:ext uri="{FF2B5EF4-FFF2-40B4-BE49-F238E27FC236}">
                <a16:creationId xmlns:a16="http://schemas.microsoft.com/office/drawing/2014/main" id="{3BD9D3C3-9A1B-5C73-DBC3-97A2A54EFA09}"/>
              </a:ext>
            </a:extLst>
          </p:cNvPr>
          <p:cNvCxnSpPr/>
          <p:nvPr/>
        </p:nvCxnSpPr>
        <p:spPr>
          <a:xfrm>
            <a:off x="5887090" y="3459822"/>
            <a:ext cx="0" cy="1511927"/>
          </a:xfrm>
          <a:prstGeom prst="straightConnector1">
            <a:avLst/>
          </a:prstGeom>
          <a:ln w="28575">
            <a:solidFill>
              <a:srgbClr val="DEC6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B47CA93-613E-7366-073C-FE6ED60BC1AB}"/>
              </a:ext>
            </a:extLst>
          </p:cNvPr>
          <p:cNvSpPr txBox="1"/>
          <p:nvPr/>
        </p:nvSpPr>
        <p:spPr>
          <a:xfrm>
            <a:off x="386464" y="5200775"/>
            <a:ext cx="11548149" cy="1169551"/>
          </a:xfrm>
          <a:prstGeom prst="rect">
            <a:avLst/>
          </a:prstGeom>
          <a:solidFill>
            <a:srgbClr val="F6EFE6"/>
          </a:solidFill>
          <a:ln>
            <a:solidFill>
              <a:srgbClr val="DEC6A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PT" dirty="0"/>
              <a:t>O processo começa com um modelo inicial que engloba todas as potenciais variáveis de previsão. Depois, através da seleção progressiva, as variáveis são adicionadas uma a uma com base na sua capacidade de melhorar o ajuste do modelo. Esta inclusão iterativa continua até que outras adições não consigam aumentar significativamente o desempenho do modelo.</a:t>
            </a:r>
          </a:p>
          <a:p>
            <a:pPr algn="just"/>
            <a:r>
              <a:rPr lang="pt-PT" dirty="0"/>
              <a:t>Posteriormente, segue-se a fase de eliminação regressiva, ou seja, as variáveis são sistematicamente removidas uma a uma, dando prioridade às que menos contribuem para a capacidade de previsão.</a:t>
            </a:r>
          </a:p>
        </p:txBody>
      </p:sp>
    </p:spTree>
    <p:extLst>
      <p:ext uri="{BB962C8B-B14F-4D97-AF65-F5344CB8AC3E}">
        <p14:creationId xmlns:p14="http://schemas.microsoft.com/office/powerpoint/2010/main" val="540491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4997513" y="287429"/>
            <a:ext cx="682297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0" y="1233781"/>
            <a:ext cx="10157824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Tratamento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 dos dados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</a:rPr>
              <a:t>Normalização</a:t>
            </a:r>
            <a:endParaRPr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F200F46-DA1A-5D2D-E7B9-C3D86CA649EE}"/>
              </a:ext>
            </a:extLst>
          </p:cNvPr>
          <p:cNvSpPr txBox="1"/>
          <p:nvPr/>
        </p:nvSpPr>
        <p:spPr>
          <a:xfrm>
            <a:off x="932479" y="2692970"/>
            <a:ext cx="51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34DEE48-18C3-49A0-67B8-7600A0ABD82D}"/>
              </a:ext>
            </a:extLst>
          </p:cNvPr>
          <p:cNvSpPr txBox="1"/>
          <p:nvPr/>
        </p:nvSpPr>
        <p:spPr>
          <a:xfrm>
            <a:off x="1189333" y="4337320"/>
            <a:ext cx="149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EEB6C4F-7A3C-A004-0924-7648D0FC3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638" y="1921123"/>
            <a:ext cx="8191500" cy="1933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Conexão reta unidirecional 5">
            <a:extLst>
              <a:ext uri="{FF2B5EF4-FFF2-40B4-BE49-F238E27FC236}">
                <a16:creationId xmlns:a16="http://schemas.microsoft.com/office/drawing/2014/main" id="{9830B386-780F-8A6C-D195-5A8EEF228A8D}"/>
              </a:ext>
            </a:extLst>
          </p:cNvPr>
          <p:cNvCxnSpPr>
            <a:cxnSpLocks/>
          </p:cNvCxnSpPr>
          <p:nvPr/>
        </p:nvCxnSpPr>
        <p:spPr>
          <a:xfrm>
            <a:off x="5887090" y="3926616"/>
            <a:ext cx="0" cy="1107720"/>
          </a:xfrm>
          <a:prstGeom prst="straightConnector1">
            <a:avLst/>
          </a:prstGeom>
          <a:ln w="28575">
            <a:solidFill>
              <a:srgbClr val="DEC6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8D2AD676-F4C8-50FE-27D0-DD8A678D8AB4}"/>
              </a:ext>
            </a:extLst>
          </p:cNvPr>
          <p:cNvSpPr txBox="1"/>
          <p:nvPr/>
        </p:nvSpPr>
        <p:spPr>
          <a:xfrm>
            <a:off x="386464" y="5189274"/>
            <a:ext cx="11548149" cy="738664"/>
          </a:xfrm>
          <a:prstGeom prst="rect">
            <a:avLst/>
          </a:prstGeom>
          <a:solidFill>
            <a:srgbClr val="F6EFE6"/>
          </a:solidFill>
          <a:ln>
            <a:solidFill>
              <a:srgbClr val="DEC6A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PT" dirty="0"/>
              <a:t>A normalização pode ajudar a melhorar o desempenho e a convergência de determinados algoritmos de </a:t>
            </a:r>
            <a:r>
              <a:rPr lang="pt-PT" dirty="0" err="1"/>
              <a:t>machine</a:t>
            </a:r>
            <a:r>
              <a:rPr lang="pt-PT" dirty="0"/>
              <a:t> </a:t>
            </a:r>
            <a:r>
              <a:rPr lang="pt-PT" dirty="0" err="1"/>
              <a:t>learning</a:t>
            </a:r>
            <a:r>
              <a:rPr lang="pt-PT" dirty="0"/>
              <a:t>, especialmente os sensíveis à escala das características, como as redes neuronais. A normalização é essencial para as ANN  e SVM para garantir um treino estável e eficiente, evitar o domínio de determinadas características e manter a eficácia das funções de </a:t>
            </a:r>
            <a:r>
              <a:rPr lang="pt-PT" dirty="0" err="1"/>
              <a:t>kernel</a:t>
            </a:r>
            <a:r>
              <a:rPr lang="pt-PT" dirty="0"/>
              <a:t> e das métricas de distância.</a:t>
            </a:r>
          </a:p>
        </p:txBody>
      </p:sp>
    </p:spTree>
    <p:extLst>
      <p:ext uri="{BB962C8B-B14F-4D97-AF65-F5344CB8AC3E}">
        <p14:creationId xmlns:p14="http://schemas.microsoft.com/office/powerpoint/2010/main" val="77930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0" y="0"/>
            <a:ext cx="2963863" cy="6858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82577" y="1670081"/>
            <a:ext cx="224472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3047988" y="82108"/>
            <a:ext cx="60960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</a:rPr>
              <a:t>Afinação</a:t>
            </a:r>
            <a:r>
              <a:rPr lang="en-US" dirty="0">
                <a:solidFill>
                  <a:schemeClr val="dk1"/>
                </a:solidFill>
              </a:rPr>
              <a:t> de </a:t>
            </a:r>
            <a:r>
              <a:rPr lang="en-US" dirty="0" err="1">
                <a:solidFill>
                  <a:schemeClr val="dk1"/>
                </a:solidFill>
              </a:rPr>
              <a:t>hiperparâmetros</a:t>
            </a:r>
            <a:endParaRPr sz="2400" dirty="0">
              <a:solidFill>
                <a:schemeClr val="dk1"/>
              </a:solidFill>
            </a:endParaRPr>
          </a:p>
        </p:txBody>
      </p:sp>
      <p:pic>
        <p:nvPicPr>
          <p:cNvPr id="140" name="Google Shape;14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8255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descr="Uma imagem com texto, Tipo de letra, captura de ecrã, Retângul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587" y="6106336"/>
            <a:ext cx="1499615" cy="84340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266F6071-B7A0-09EC-8148-3C45D8A573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3962085"/>
              </p:ext>
            </p:extLst>
          </p:nvPr>
        </p:nvGraphicFramePr>
        <p:xfrm>
          <a:off x="5812789" y="1371600"/>
          <a:ext cx="7256776" cy="54042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4" name="Imagem 3">
            <a:extLst>
              <a:ext uri="{FF2B5EF4-FFF2-40B4-BE49-F238E27FC236}">
                <a16:creationId xmlns:a16="http://schemas.microsoft.com/office/drawing/2014/main" id="{E0F4F2F3-5C7B-9740-FFAE-DE1E0DD667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7988" y="825624"/>
            <a:ext cx="3512094" cy="34933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803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0" y="0"/>
            <a:ext cx="2963863" cy="6858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82577" y="1670081"/>
            <a:ext cx="224472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3047988" y="195122"/>
            <a:ext cx="60960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Dados </a:t>
            </a:r>
            <a:r>
              <a:rPr lang="en-US" dirty="0" err="1">
                <a:solidFill>
                  <a:schemeClr val="dk1"/>
                </a:solidFill>
              </a:rPr>
              <a:t>não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normalizados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140" name="Google Shape;14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825500" cy="812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1" name="Google Shape;141;p18"/>
          <p:cNvGraphicFramePr/>
          <p:nvPr>
            <p:extLst>
              <p:ext uri="{D42A27DB-BD31-4B8C-83A1-F6EECF244321}">
                <p14:modId xmlns:p14="http://schemas.microsoft.com/office/powerpoint/2010/main" val="1679133800"/>
              </p:ext>
            </p:extLst>
          </p:nvPr>
        </p:nvGraphicFramePr>
        <p:xfrm>
          <a:off x="3048000" y="1381918"/>
          <a:ext cx="9001525" cy="1981050"/>
        </p:xfrm>
        <a:graphic>
          <a:graphicData uri="http://schemas.openxmlformats.org/drawingml/2006/table">
            <a:tbl>
              <a:tblPr>
                <a:tableStyleId>{F65BD0AB-35EC-46CF-8008-AF1E710A26E6}</a:tableStyleId>
              </a:tblPr>
              <a:tblGrid>
                <a:gridCol w="166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2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4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Hiperparâmetros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1ª </a:t>
                      </a: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2ª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3ª afinação</a:t>
                      </a:r>
                      <a:endParaRPr b="1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4ª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5ª </a:t>
                      </a: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6ª </a:t>
                      </a: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n.tress</a:t>
                      </a:r>
                      <a:endParaRPr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1000</a:t>
                      </a:r>
                      <a:endParaRPr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1000</a:t>
                      </a:r>
                      <a:endParaRPr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1100</a:t>
                      </a:r>
                      <a:endParaRPr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1000</a:t>
                      </a:r>
                      <a:endParaRPr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1000</a:t>
                      </a:r>
                      <a:endParaRPr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1000</a:t>
                      </a:r>
                      <a:endParaRPr dirty="0"/>
                    </a:p>
                  </a:txBody>
                  <a:tcPr marL="91425" marR="91425" marT="91425" marB="914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interaction.depth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6</a:t>
                      </a:r>
                      <a:endParaRPr dirty="0"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</a:t>
                      </a:r>
                      <a:endParaRPr dirty="0"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</a:t>
                      </a:r>
                      <a:endParaRPr dirty="0"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</a:t>
                      </a:r>
                      <a:endParaRPr dirty="0"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</a:t>
                      </a:r>
                      <a:endParaRPr dirty="0"/>
                    </a:p>
                  </a:txBody>
                  <a:tcPr marL="91425" marR="91425" marT="91425" marB="914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shrinkage</a:t>
                      </a:r>
                      <a:endParaRPr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0.01</a:t>
                      </a:r>
                      <a:endParaRPr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0.005</a:t>
                      </a:r>
                      <a:endParaRPr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0.006</a:t>
                      </a:r>
                      <a:endParaRPr dirty="0"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0.007</a:t>
                      </a:r>
                      <a:endParaRPr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0.0066</a:t>
                      </a:r>
                      <a:endParaRPr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0.0066</a:t>
                      </a:r>
                      <a:endParaRPr/>
                    </a:p>
                  </a:txBody>
                  <a:tcPr marL="91425" marR="91425" marT="91425" marB="914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n.minobsinnode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7</a:t>
                      </a:r>
                      <a:endParaRPr dirty="0"/>
                    </a:p>
                  </a:txBody>
                  <a:tcPr marL="91425" marR="91425" marT="91425" marB="914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3" name="Google Shape;143;p18" descr="Uma imagem com texto, Tipo de letra, captura de ecrã, Retângul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587" y="6106336"/>
            <a:ext cx="1499615" cy="84340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Google Shape;144;p18"/>
          <p:cNvGraphicFramePr/>
          <p:nvPr>
            <p:extLst>
              <p:ext uri="{D42A27DB-BD31-4B8C-83A1-F6EECF244321}">
                <p14:modId xmlns:p14="http://schemas.microsoft.com/office/powerpoint/2010/main" val="2245421110"/>
              </p:ext>
            </p:extLst>
          </p:nvPr>
        </p:nvGraphicFramePr>
        <p:xfrm>
          <a:off x="3048000" y="4542391"/>
          <a:ext cx="9001525" cy="1401990"/>
        </p:xfrm>
        <a:graphic>
          <a:graphicData uri="http://schemas.openxmlformats.org/drawingml/2006/table">
            <a:tbl>
              <a:tblPr>
                <a:tableStyleId>{F65BD0AB-35EC-46CF-8008-AF1E710A26E6}</a:tableStyleId>
              </a:tblPr>
              <a:tblGrid>
                <a:gridCol w="13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2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2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Medidas</a:t>
                      </a:r>
                      <a:r>
                        <a:rPr lang="en-US" b="1" dirty="0"/>
                        <a:t> de performance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1ª afinação</a:t>
                      </a:r>
                      <a:endParaRPr b="1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2ª afinação</a:t>
                      </a:r>
                      <a:endParaRPr b="1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3ª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4ª afinação</a:t>
                      </a:r>
                      <a:endParaRPr b="1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5ª afinação</a:t>
                      </a:r>
                      <a:endParaRPr b="1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6ª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RMSE</a:t>
                      </a:r>
                      <a:endParaRPr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19.98048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19.96900</a:t>
                      </a:r>
                      <a:endParaRPr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19.97239</a:t>
                      </a:r>
                      <a:endParaRPr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19.97427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19.96866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19.96057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MAPE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113.2015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113.2853</a:t>
                      </a:r>
                      <a:endParaRPr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113.1258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113.2422</a:t>
                      </a:r>
                      <a:endParaRPr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113.1525</a:t>
                      </a:r>
                      <a:endParaRPr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113.1445</a:t>
                      </a:r>
                      <a:endParaRPr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5069941" y="287429"/>
            <a:ext cx="675054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m 4" descr="Uma imagem com texto, captura de ecrã, diagrama, Gráfico&#10;&#10;Descrição gerada automaticamente">
            <a:extLst>
              <a:ext uri="{FF2B5EF4-FFF2-40B4-BE49-F238E27FC236}">
                <a16:creationId xmlns:a16="http://schemas.microsoft.com/office/drawing/2014/main" id="{73B259F3-DE0A-B630-46FF-B14402411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019125"/>
            <a:ext cx="6000750" cy="3703320"/>
          </a:xfrm>
          <a:prstGeom prst="rect">
            <a:avLst/>
          </a:prstGeom>
        </p:spPr>
      </p:pic>
      <p:sp>
        <p:nvSpPr>
          <p:cNvPr id="155" name="Google Shape;155;p19"/>
          <p:cNvSpPr txBox="1"/>
          <p:nvPr/>
        </p:nvSpPr>
        <p:spPr>
          <a:xfrm>
            <a:off x="-12" y="1269908"/>
            <a:ext cx="7715904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Dados </a:t>
            </a:r>
            <a:r>
              <a:rPr lang="en-US" dirty="0" err="1">
                <a:solidFill>
                  <a:schemeClr val="dk1"/>
                </a:solidFill>
              </a:rPr>
              <a:t>não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normalizados</a:t>
            </a:r>
            <a:r>
              <a:rPr lang="en-US" dirty="0">
                <a:solidFill>
                  <a:schemeClr val="dk1"/>
                </a:solidFill>
              </a:rPr>
              <a:t> -  1ª e 2ª </a:t>
            </a:r>
            <a:r>
              <a:rPr lang="en-US" dirty="0" err="1">
                <a:solidFill>
                  <a:schemeClr val="dk1"/>
                </a:solidFill>
              </a:rPr>
              <a:t>afinação</a:t>
            </a:r>
            <a:r>
              <a:rPr lang="en-US" dirty="0">
                <a:solidFill>
                  <a:schemeClr val="dk1"/>
                </a:solidFill>
              </a:rPr>
              <a:t> de </a:t>
            </a:r>
            <a:r>
              <a:rPr lang="en-US" dirty="0" err="1">
                <a:solidFill>
                  <a:schemeClr val="dk1"/>
                </a:solidFill>
              </a:rPr>
              <a:t>hiperparâmetros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156" name="Google Shape;15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012140"/>
            <a:ext cx="6002250" cy="37042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8" name="Google Shape;158;p19"/>
          <p:cNvGraphicFramePr/>
          <p:nvPr>
            <p:extLst>
              <p:ext uri="{D42A27DB-BD31-4B8C-83A1-F6EECF244321}">
                <p14:modId xmlns:p14="http://schemas.microsoft.com/office/powerpoint/2010/main" val="1048389222"/>
              </p:ext>
            </p:extLst>
          </p:nvPr>
        </p:nvGraphicFramePr>
        <p:xfrm>
          <a:off x="3857940" y="5566494"/>
          <a:ext cx="4168125" cy="1188630"/>
        </p:xfrm>
        <a:graphic>
          <a:graphicData uri="http://schemas.openxmlformats.org/drawingml/2006/table">
            <a:tbl>
              <a:tblPr>
                <a:tableStyleId>{F65BD0AB-35EC-46CF-8008-AF1E710A26E6}</a:tableStyleId>
              </a:tblPr>
              <a:tblGrid>
                <a:gridCol w="138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1ª </a:t>
                      </a: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2ª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RMSE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19.98048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19.96900</a:t>
                      </a:r>
                      <a:endParaRPr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MAPE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113.2015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113.2853</a:t>
                      </a:r>
                      <a:endParaRPr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381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6186488" y="287429"/>
            <a:ext cx="563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endParaRPr dirty="0"/>
          </a:p>
        </p:txBody>
      </p:sp>
      <p:pic>
        <p:nvPicPr>
          <p:cNvPr id="5" name="Imagem 4" descr="Uma imagem com texto, captura de ecrã, diagrama, Gráfico&#10;&#10;Descrição gerada automaticamente">
            <a:extLst>
              <a:ext uri="{FF2B5EF4-FFF2-40B4-BE49-F238E27FC236}">
                <a16:creationId xmlns:a16="http://schemas.microsoft.com/office/drawing/2014/main" id="{4EC68BD6-D818-D81A-CB27-33A21FA3E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013900"/>
            <a:ext cx="6000750" cy="3703320"/>
          </a:xfrm>
          <a:prstGeom prst="rect">
            <a:avLst/>
          </a:prstGeom>
        </p:spPr>
      </p:pic>
      <p:pic>
        <p:nvPicPr>
          <p:cNvPr id="157" name="Google Shape;15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022414"/>
            <a:ext cx="5752675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-12" y="1269908"/>
            <a:ext cx="7715904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Dados </a:t>
            </a:r>
            <a:r>
              <a:rPr lang="en-US" dirty="0" err="1">
                <a:solidFill>
                  <a:schemeClr val="dk1"/>
                </a:solidFill>
              </a:rPr>
              <a:t>não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normalizados</a:t>
            </a:r>
            <a:r>
              <a:rPr lang="en-US" dirty="0">
                <a:solidFill>
                  <a:schemeClr val="dk1"/>
                </a:solidFill>
              </a:rPr>
              <a:t> -  3ª e 4ª </a:t>
            </a:r>
            <a:r>
              <a:rPr lang="en-US" dirty="0" err="1">
                <a:solidFill>
                  <a:schemeClr val="dk1"/>
                </a:solidFill>
              </a:rPr>
              <a:t>afinação</a:t>
            </a:r>
            <a:r>
              <a:rPr lang="en-US" dirty="0">
                <a:solidFill>
                  <a:schemeClr val="dk1"/>
                </a:solidFill>
              </a:rPr>
              <a:t> de </a:t>
            </a:r>
            <a:r>
              <a:rPr lang="en-US" dirty="0" err="1">
                <a:solidFill>
                  <a:schemeClr val="dk1"/>
                </a:solidFill>
              </a:rPr>
              <a:t>hiperparâmetros</a:t>
            </a: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158" name="Google Shape;158;p19"/>
          <p:cNvGraphicFramePr/>
          <p:nvPr>
            <p:extLst>
              <p:ext uri="{D42A27DB-BD31-4B8C-83A1-F6EECF244321}">
                <p14:modId xmlns:p14="http://schemas.microsoft.com/office/powerpoint/2010/main" val="2253039349"/>
              </p:ext>
            </p:extLst>
          </p:nvPr>
        </p:nvGraphicFramePr>
        <p:xfrm>
          <a:off x="4355262" y="5638548"/>
          <a:ext cx="4168125" cy="1188630"/>
        </p:xfrm>
        <a:graphic>
          <a:graphicData uri="http://schemas.openxmlformats.org/drawingml/2006/table">
            <a:tbl>
              <a:tblPr>
                <a:tableStyleId>{F65BD0AB-35EC-46CF-8008-AF1E710A26E6}</a:tableStyleId>
              </a:tblPr>
              <a:tblGrid>
                <a:gridCol w="138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3ª afinação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4ª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RMSE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19.97239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19.97427</a:t>
                      </a:r>
                      <a:endParaRPr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MAPE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113.1258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113.2422</a:t>
                      </a:r>
                      <a:endParaRPr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6242A28E-8E03-D3DA-1B68-15F23168D4EC}"/>
              </a:ext>
            </a:extLst>
          </p:cNvPr>
          <p:cNvSpPr/>
          <p:nvPr/>
        </p:nvSpPr>
        <p:spPr>
          <a:xfrm>
            <a:off x="1633591" y="4356642"/>
            <a:ext cx="3020601" cy="1063648"/>
          </a:xfrm>
          <a:prstGeom prst="ellipse">
            <a:avLst/>
          </a:prstGeom>
          <a:noFill/>
          <a:ln>
            <a:solidFill>
              <a:srgbClr val="DEC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DD11151-5EF0-1CEB-7572-30F2A98CB266}"/>
              </a:ext>
            </a:extLst>
          </p:cNvPr>
          <p:cNvSpPr/>
          <p:nvPr/>
        </p:nvSpPr>
        <p:spPr>
          <a:xfrm>
            <a:off x="7827196" y="4395140"/>
            <a:ext cx="3020601" cy="1063648"/>
          </a:xfrm>
          <a:prstGeom prst="ellipse">
            <a:avLst/>
          </a:prstGeom>
          <a:noFill/>
          <a:ln>
            <a:solidFill>
              <a:srgbClr val="DEC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79013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5124261" y="287429"/>
            <a:ext cx="669622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-12" y="1269908"/>
            <a:ext cx="7715904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Dados </a:t>
            </a:r>
            <a:r>
              <a:rPr lang="en-US" dirty="0" err="1">
                <a:solidFill>
                  <a:schemeClr val="dk1"/>
                </a:solidFill>
              </a:rPr>
              <a:t>não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normalizados</a:t>
            </a:r>
            <a:r>
              <a:rPr lang="en-US" dirty="0">
                <a:solidFill>
                  <a:schemeClr val="dk1"/>
                </a:solidFill>
              </a:rPr>
              <a:t> -  5ª e 6ª </a:t>
            </a:r>
            <a:r>
              <a:rPr lang="en-US" dirty="0" err="1">
                <a:solidFill>
                  <a:schemeClr val="dk1"/>
                </a:solidFill>
              </a:rPr>
              <a:t>afinação</a:t>
            </a:r>
            <a:r>
              <a:rPr lang="en-US" dirty="0">
                <a:solidFill>
                  <a:schemeClr val="dk1"/>
                </a:solidFill>
              </a:rPr>
              <a:t> de </a:t>
            </a:r>
            <a:r>
              <a:rPr lang="en-US" dirty="0" err="1">
                <a:solidFill>
                  <a:schemeClr val="dk1"/>
                </a:solidFill>
              </a:rPr>
              <a:t>hiperparâmetros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5" name="Imagem 4" descr="Uma imagem com texto, captura de ecrã, diagrama, file&#10;&#10;Descrição gerada automaticamente">
            <a:extLst>
              <a:ext uri="{FF2B5EF4-FFF2-40B4-BE49-F238E27FC236}">
                <a16:creationId xmlns:a16="http://schemas.microsoft.com/office/drawing/2014/main" id="{C1D86213-6030-2384-F4BC-85AE79B05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79682"/>
            <a:ext cx="6000750" cy="3703320"/>
          </a:xfrm>
          <a:prstGeom prst="rect">
            <a:avLst/>
          </a:prstGeom>
        </p:spPr>
      </p:pic>
      <p:pic>
        <p:nvPicPr>
          <p:cNvPr id="7" name="Imagem 6" descr="Uma imagem com texto, captura de ecrã, diagrama, Gráfico&#10;&#10;Descrição gerada automaticamente">
            <a:extLst>
              <a:ext uri="{FF2B5EF4-FFF2-40B4-BE49-F238E27FC236}">
                <a16:creationId xmlns:a16="http://schemas.microsoft.com/office/drawing/2014/main" id="{5FE339D2-0749-9CBF-5D44-6EB5DCF879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089955"/>
            <a:ext cx="6000750" cy="3703320"/>
          </a:xfrm>
          <a:prstGeom prst="rect">
            <a:avLst/>
          </a:prstGeom>
        </p:spPr>
      </p:pic>
      <p:graphicFrame>
        <p:nvGraphicFramePr>
          <p:cNvPr id="158" name="Google Shape;158;p19"/>
          <p:cNvGraphicFramePr/>
          <p:nvPr>
            <p:extLst>
              <p:ext uri="{D42A27DB-BD31-4B8C-83A1-F6EECF244321}">
                <p14:modId xmlns:p14="http://schemas.microsoft.com/office/powerpoint/2010/main" val="2128670572"/>
              </p:ext>
            </p:extLst>
          </p:nvPr>
        </p:nvGraphicFramePr>
        <p:xfrm>
          <a:off x="4355262" y="5648822"/>
          <a:ext cx="4168125" cy="1188630"/>
        </p:xfrm>
        <a:graphic>
          <a:graphicData uri="http://schemas.openxmlformats.org/drawingml/2006/table">
            <a:tbl>
              <a:tblPr>
                <a:tableStyleId>{F65BD0AB-35EC-46CF-8008-AF1E710A26E6}</a:tableStyleId>
              </a:tblPr>
              <a:tblGrid>
                <a:gridCol w="138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5ª </a:t>
                      </a: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6ª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RMSE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19.96866</a:t>
                      </a:r>
                      <a:endParaRPr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19.96057</a:t>
                      </a:r>
                      <a:endParaRPr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MAPE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113.1525</a:t>
                      </a:r>
                      <a:endParaRPr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113.1445</a:t>
                      </a:r>
                      <a:endParaRPr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B7B039F2-A64F-2BD7-4ABB-CDDEE438DA9D}"/>
              </a:ext>
            </a:extLst>
          </p:cNvPr>
          <p:cNvSpPr/>
          <p:nvPr/>
        </p:nvSpPr>
        <p:spPr>
          <a:xfrm>
            <a:off x="2887038" y="4460193"/>
            <a:ext cx="1335641" cy="1188629"/>
          </a:xfrm>
          <a:prstGeom prst="ellipse">
            <a:avLst/>
          </a:prstGeom>
          <a:noFill/>
          <a:ln>
            <a:solidFill>
              <a:srgbClr val="DEC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F40B099-A626-CB17-2F7C-9CEEE22AE963}"/>
              </a:ext>
            </a:extLst>
          </p:cNvPr>
          <p:cNvSpPr/>
          <p:nvPr/>
        </p:nvSpPr>
        <p:spPr>
          <a:xfrm>
            <a:off x="9022052" y="4458228"/>
            <a:ext cx="1335641" cy="1188629"/>
          </a:xfrm>
          <a:prstGeom prst="ellipse">
            <a:avLst/>
          </a:prstGeom>
          <a:noFill/>
          <a:ln>
            <a:solidFill>
              <a:srgbClr val="DEC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59480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4780230" y="287429"/>
            <a:ext cx="704025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-12" y="1269908"/>
            <a:ext cx="7715904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Dados </a:t>
            </a:r>
            <a:r>
              <a:rPr lang="en-US" dirty="0" err="1">
                <a:solidFill>
                  <a:schemeClr val="dk1"/>
                </a:solidFill>
              </a:rPr>
              <a:t>não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normalizados</a:t>
            </a:r>
            <a:r>
              <a:rPr lang="en-US" dirty="0">
                <a:solidFill>
                  <a:schemeClr val="dk1"/>
                </a:solidFill>
              </a:rPr>
              <a:t> -  1ª e 3ª </a:t>
            </a:r>
            <a:r>
              <a:rPr lang="en-US" dirty="0" err="1">
                <a:solidFill>
                  <a:schemeClr val="dk1"/>
                </a:solidFill>
              </a:rPr>
              <a:t>afinação</a:t>
            </a:r>
            <a:r>
              <a:rPr lang="en-US" dirty="0">
                <a:solidFill>
                  <a:schemeClr val="dk1"/>
                </a:solidFill>
              </a:rPr>
              <a:t> de </a:t>
            </a:r>
            <a:r>
              <a:rPr lang="en-US" dirty="0" err="1">
                <a:solidFill>
                  <a:schemeClr val="dk1"/>
                </a:solidFill>
              </a:rPr>
              <a:t>hiperparâmetros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156" name="Google Shape;15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012140"/>
            <a:ext cx="6002250" cy="3704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9325" y="2012140"/>
            <a:ext cx="5752675" cy="36572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8" name="Google Shape;158;p19"/>
          <p:cNvGraphicFramePr/>
          <p:nvPr>
            <p:extLst>
              <p:ext uri="{D42A27DB-BD31-4B8C-83A1-F6EECF244321}">
                <p14:modId xmlns:p14="http://schemas.microsoft.com/office/powerpoint/2010/main" val="3863146155"/>
              </p:ext>
            </p:extLst>
          </p:nvPr>
        </p:nvGraphicFramePr>
        <p:xfrm>
          <a:off x="4355262" y="5628274"/>
          <a:ext cx="4168125" cy="1188630"/>
        </p:xfrm>
        <a:graphic>
          <a:graphicData uri="http://schemas.openxmlformats.org/drawingml/2006/table">
            <a:tbl>
              <a:tblPr>
                <a:tableStyleId>{F65BD0AB-35EC-46CF-8008-AF1E710A26E6}</a:tableStyleId>
              </a:tblPr>
              <a:tblGrid>
                <a:gridCol w="138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1ª </a:t>
                      </a: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3ª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RMSE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19.98048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19.97239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MAPE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113.2015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113.1258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7CEC95DD-3498-8F2D-FF98-C0C2A6F47B4D}"/>
              </a:ext>
            </a:extLst>
          </p:cNvPr>
          <p:cNvSpPr/>
          <p:nvPr/>
        </p:nvSpPr>
        <p:spPr>
          <a:xfrm>
            <a:off x="11106008" y="4530906"/>
            <a:ext cx="267129" cy="984354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8DADE14-B27D-262B-C015-C3FB1DB9B289}"/>
              </a:ext>
            </a:extLst>
          </p:cNvPr>
          <p:cNvSpPr/>
          <p:nvPr/>
        </p:nvSpPr>
        <p:spPr>
          <a:xfrm>
            <a:off x="11664483" y="4497137"/>
            <a:ext cx="267129" cy="840518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2F919B-E8E5-DEA6-6AAB-4E051288219D}"/>
              </a:ext>
            </a:extLst>
          </p:cNvPr>
          <p:cNvSpPr/>
          <p:nvPr/>
        </p:nvSpPr>
        <p:spPr>
          <a:xfrm>
            <a:off x="5466349" y="4547934"/>
            <a:ext cx="267129" cy="984354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106AAD-596D-752C-B2BF-CEF754EB56C3}"/>
              </a:ext>
            </a:extLst>
          </p:cNvPr>
          <p:cNvSpPr/>
          <p:nvPr/>
        </p:nvSpPr>
        <p:spPr>
          <a:xfrm>
            <a:off x="4852897" y="4467295"/>
            <a:ext cx="267129" cy="840518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58281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0" y="0"/>
            <a:ext cx="2964000" cy="6858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282577" y="1670081"/>
            <a:ext cx="22446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825501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Uma imagem com texto, Tipo de letra, captura de ecrã, Retângul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587" y="6106336"/>
            <a:ext cx="1499615" cy="84340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3047988" y="133478"/>
            <a:ext cx="60960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Dados </a:t>
            </a:r>
            <a:r>
              <a:rPr lang="en-US" dirty="0" err="1">
                <a:solidFill>
                  <a:schemeClr val="dk1"/>
                </a:solidFill>
              </a:rPr>
              <a:t>não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normalizados</a:t>
            </a:r>
            <a:r>
              <a:rPr lang="en-US" dirty="0">
                <a:solidFill>
                  <a:schemeClr val="dk1"/>
                </a:solidFill>
              </a:rPr>
              <a:t> - </a:t>
            </a:r>
            <a:r>
              <a:rPr lang="en-US" dirty="0" err="1">
                <a:solidFill>
                  <a:schemeClr val="dk1"/>
                </a:solidFill>
              </a:rPr>
              <a:t>Modelo</a:t>
            </a:r>
            <a:r>
              <a:rPr lang="en-US" dirty="0">
                <a:solidFill>
                  <a:schemeClr val="dk1"/>
                </a:solidFill>
              </a:rPr>
              <a:t> final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168" name="Google Shape;16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9529" y="1371600"/>
            <a:ext cx="6667500" cy="411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93477D7-D7D2-8461-3C41-2076D6EDA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590362"/>
              </p:ext>
            </p:extLst>
          </p:nvPr>
        </p:nvGraphicFramePr>
        <p:xfrm>
          <a:off x="3870491" y="5676614"/>
          <a:ext cx="2971515" cy="741680"/>
        </p:xfrm>
        <a:graphic>
          <a:graphicData uri="http://schemas.openxmlformats.org/drawingml/2006/table">
            <a:tbl>
              <a:tblPr firstRow="1" bandRow="1">
                <a:tableStyleId>{F65BD0AB-35EC-46CF-8008-AF1E710A26E6}</a:tableStyleId>
              </a:tblPr>
              <a:tblGrid>
                <a:gridCol w="1379021">
                  <a:extLst>
                    <a:ext uri="{9D8B030D-6E8A-4147-A177-3AD203B41FA5}">
                      <a16:colId xmlns:a16="http://schemas.microsoft.com/office/drawing/2014/main" val="780246598"/>
                    </a:ext>
                  </a:extLst>
                </a:gridCol>
                <a:gridCol w="1592494">
                  <a:extLst>
                    <a:ext uri="{9D8B030D-6E8A-4147-A177-3AD203B41FA5}">
                      <a16:colId xmlns:a16="http://schemas.microsoft.com/office/drawing/2014/main" val="3035538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RMSE</a:t>
                      </a:r>
                    </a:p>
                  </a:txBody>
                  <a:tcPr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19.9486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238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MAPE</a:t>
                      </a:r>
                    </a:p>
                  </a:txBody>
                  <a:tcPr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112.9807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12301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47141A25-1E4D-6090-6D76-2FB3CC18FB99}"/>
              </a:ext>
            </a:extLst>
          </p:cNvPr>
          <p:cNvSpPr txBox="1"/>
          <p:nvPr/>
        </p:nvSpPr>
        <p:spPr>
          <a:xfrm>
            <a:off x="8660963" y="5679630"/>
            <a:ext cx="3102947" cy="738664"/>
          </a:xfrm>
          <a:prstGeom prst="rect">
            <a:avLst/>
          </a:prstGeom>
          <a:solidFill>
            <a:srgbClr val="F6EFE6"/>
          </a:solidFill>
          <a:ln>
            <a:solidFill>
              <a:srgbClr val="DEC6A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Variáveis com maior importância: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loudness</a:t>
            </a:r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instrumentalness</a:t>
            </a:r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/>
          <p:nvPr/>
        </p:nvSpPr>
        <p:spPr>
          <a:xfrm>
            <a:off x="0" y="0"/>
            <a:ext cx="2964000" cy="6858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282577" y="1670081"/>
            <a:ext cx="22446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3047988" y="82108"/>
            <a:ext cx="60960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Dados </a:t>
            </a:r>
            <a:r>
              <a:rPr lang="en-US" dirty="0" err="1">
                <a:solidFill>
                  <a:schemeClr val="dk1"/>
                </a:solidFill>
              </a:rPr>
              <a:t>normalizados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176" name="Google Shape;17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825501" cy="812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" name="Google Shape;177;p21"/>
          <p:cNvGraphicFramePr/>
          <p:nvPr>
            <p:extLst>
              <p:ext uri="{D42A27DB-BD31-4B8C-83A1-F6EECF244321}">
                <p14:modId xmlns:p14="http://schemas.microsoft.com/office/powerpoint/2010/main" val="802059857"/>
              </p:ext>
            </p:extLst>
          </p:nvPr>
        </p:nvGraphicFramePr>
        <p:xfrm>
          <a:off x="3005938" y="1367342"/>
          <a:ext cx="9085650" cy="1981050"/>
        </p:xfrm>
        <a:graphic>
          <a:graphicData uri="http://schemas.openxmlformats.org/drawingml/2006/table">
            <a:tbl>
              <a:tblPr>
                <a:tableStyleId>{F65BD0AB-35EC-46CF-8008-AF1E710A26E6}</a:tableStyleId>
              </a:tblPr>
              <a:tblGrid>
                <a:gridCol w="1648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2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3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3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Hiperparâmetros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1ª </a:t>
                      </a: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2ª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3ª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4ª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5ª </a:t>
                      </a: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6ª </a:t>
                      </a: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n.tress</a:t>
                      </a:r>
                      <a:endParaRPr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interaction.depth</a:t>
                      </a:r>
                      <a:endParaRPr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shrinkage</a:t>
                      </a:r>
                      <a:endParaRPr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0.005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n.minobsinnode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17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21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9" name="Google Shape;179;p21" descr="Uma imagem com texto, Tipo de letra, captura de ecrã, Retângul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587" y="6106336"/>
            <a:ext cx="1499615" cy="84340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0" name="Google Shape;180;p21"/>
          <p:cNvGraphicFramePr/>
          <p:nvPr>
            <p:extLst>
              <p:ext uri="{D42A27DB-BD31-4B8C-83A1-F6EECF244321}">
                <p14:modId xmlns:p14="http://schemas.microsoft.com/office/powerpoint/2010/main" val="3628410421"/>
              </p:ext>
            </p:extLst>
          </p:nvPr>
        </p:nvGraphicFramePr>
        <p:xfrm>
          <a:off x="3048013" y="4334507"/>
          <a:ext cx="9001525" cy="1401990"/>
        </p:xfrm>
        <a:graphic>
          <a:graphicData uri="http://schemas.openxmlformats.org/drawingml/2006/table">
            <a:tbl>
              <a:tblPr>
                <a:tableStyleId>{F65BD0AB-35EC-46CF-8008-AF1E710A26E6}</a:tableStyleId>
              </a:tblPr>
              <a:tblGrid>
                <a:gridCol w="13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2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2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Medidas</a:t>
                      </a:r>
                      <a:r>
                        <a:rPr lang="en-US" b="1" dirty="0"/>
                        <a:t> de performance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1ª </a:t>
                      </a: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2ª afinação</a:t>
                      </a:r>
                      <a:endParaRPr b="1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3ª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4ª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5ª </a:t>
                      </a: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6ª </a:t>
                      </a: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RMSE</a:t>
                      </a:r>
                      <a:endParaRPr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20.23332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20.24918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20.24301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20.23482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20.22938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20.21717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MAPE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108.9484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109.1195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108.7862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109.0503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108.8430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109.0580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 descr="Uma imagem com texto, captura de ecrã, diagrama, file&#10;&#10;Descrição gerada automaticamente">
            <a:extLst>
              <a:ext uri="{FF2B5EF4-FFF2-40B4-BE49-F238E27FC236}">
                <a16:creationId xmlns:a16="http://schemas.microsoft.com/office/drawing/2014/main" id="{BDA1C52E-59D6-A24C-7F1C-646DC6765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49" y="2020417"/>
            <a:ext cx="6000751" cy="3703320"/>
          </a:xfrm>
          <a:prstGeom prst="rect">
            <a:avLst/>
          </a:prstGeom>
        </p:spPr>
      </p:pic>
      <p:pic>
        <p:nvPicPr>
          <p:cNvPr id="3" name="Imagem 2" descr="Uma imagem com texto, captura de ecrã, diagrama, Gráfico&#10;&#10;Descrição gerada automaticamente">
            <a:extLst>
              <a:ext uri="{FF2B5EF4-FFF2-40B4-BE49-F238E27FC236}">
                <a16:creationId xmlns:a16="http://schemas.microsoft.com/office/drawing/2014/main" id="{CA95EAD3-A00A-FC67-7427-C31DCC3F3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2019125"/>
            <a:ext cx="6000750" cy="3703320"/>
          </a:xfrm>
          <a:prstGeom prst="rect">
            <a:avLst/>
          </a:prstGeom>
        </p:spPr>
      </p:pic>
      <p:sp>
        <p:nvSpPr>
          <p:cNvPr id="154" name="Google Shape;154;p19"/>
          <p:cNvSpPr txBox="1"/>
          <p:nvPr/>
        </p:nvSpPr>
        <p:spPr>
          <a:xfrm>
            <a:off x="5088048" y="287429"/>
            <a:ext cx="67324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-12" y="1269908"/>
            <a:ext cx="7715904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Dados </a:t>
            </a:r>
            <a:r>
              <a:rPr lang="en-US" dirty="0" err="1">
                <a:solidFill>
                  <a:schemeClr val="dk1"/>
                </a:solidFill>
              </a:rPr>
              <a:t>normalizados</a:t>
            </a:r>
            <a:r>
              <a:rPr lang="en-US" dirty="0">
                <a:solidFill>
                  <a:schemeClr val="dk1"/>
                </a:solidFill>
              </a:rPr>
              <a:t> -  1ª e 2ª </a:t>
            </a:r>
            <a:r>
              <a:rPr lang="en-US" dirty="0" err="1">
                <a:solidFill>
                  <a:schemeClr val="dk1"/>
                </a:solidFill>
              </a:rPr>
              <a:t>afinação</a:t>
            </a:r>
            <a:r>
              <a:rPr lang="en-US" dirty="0">
                <a:solidFill>
                  <a:schemeClr val="dk1"/>
                </a:solidFill>
              </a:rPr>
              <a:t> de </a:t>
            </a:r>
            <a:r>
              <a:rPr lang="en-US" dirty="0" err="1">
                <a:solidFill>
                  <a:schemeClr val="dk1"/>
                </a:solidFill>
              </a:rPr>
              <a:t>hiperparâmetros</a:t>
            </a: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158" name="Google Shape;158;p19"/>
          <p:cNvGraphicFramePr/>
          <p:nvPr>
            <p:extLst>
              <p:ext uri="{D42A27DB-BD31-4B8C-83A1-F6EECF244321}">
                <p14:modId xmlns:p14="http://schemas.microsoft.com/office/powerpoint/2010/main" val="684625099"/>
              </p:ext>
            </p:extLst>
          </p:nvPr>
        </p:nvGraphicFramePr>
        <p:xfrm>
          <a:off x="4355262" y="5628274"/>
          <a:ext cx="4168125" cy="1188630"/>
        </p:xfrm>
        <a:graphic>
          <a:graphicData uri="http://schemas.openxmlformats.org/drawingml/2006/table">
            <a:tbl>
              <a:tblPr>
                <a:tableStyleId>{F65BD0AB-35EC-46CF-8008-AF1E710A26E6}</a:tableStyleId>
              </a:tblPr>
              <a:tblGrid>
                <a:gridCol w="138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1ª </a:t>
                      </a: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2ª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RMSE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20.23332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20.24918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MAPE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108.9484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109.1195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3E0FE3D6-6E45-B723-7D14-51920F30F34A}"/>
              </a:ext>
            </a:extLst>
          </p:cNvPr>
          <p:cNvSpPr/>
          <p:nvPr/>
        </p:nvSpPr>
        <p:spPr>
          <a:xfrm>
            <a:off x="1675162" y="4458987"/>
            <a:ext cx="1286411" cy="984354"/>
          </a:xfrm>
          <a:prstGeom prst="ellipse">
            <a:avLst/>
          </a:prstGeom>
          <a:noFill/>
          <a:ln>
            <a:solidFill>
              <a:srgbClr val="DEC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C23EF02-C572-1896-EC7A-60DFAC8DB71C}"/>
              </a:ext>
            </a:extLst>
          </p:cNvPr>
          <p:cNvSpPr/>
          <p:nvPr/>
        </p:nvSpPr>
        <p:spPr>
          <a:xfrm>
            <a:off x="7836738" y="4522870"/>
            <a:ext cx="1286411" cy="984354"/>
          </a:xfrm>
          <a:prstGeom prst="ellipse">
            <a:avLst/>
          </a:prstGeom>
          <a:noFill/>
          <a:ln>
            <a:solidFill>
              <a:srgbClr val="DEC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62241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 descr="Uma imagem com texto, captura de ecrã, diagrama, Gráfico&#10;&#10;Descrição gerada automaticamente">
            <a:extLst>
              <a:ext uri="{FF2B5EF4-FFF2-40B4-BE49-F238E27FC236}">
                <a16:creationId xmlns:a16="http://schemas.microsoft.com/office/drawing/2014/main" id="{7543C905-7408-2D17-649D-3A3FF8540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488" y="2048864"/>
            <a:ext cx="6000750" cy="3703320"/>
          </a:xfrm>
          <a:prstGeom prst="rect">
            <a:avLst/>
          </a:prstGeom>
        </p:spPr>
      </p:pic>
      <p:sp>
        <p:nvSpPr>
          <p:cNvPr id="154" name="Google Shape;154;p19"/>
          <p:cNvSpPr txBox="1"/>
          <p:nvPr/>
        </p:nvSpPr>
        <p:spPr>
          <a:xfrm>
            <a:off x="4925085" y="287429"/>
            <a:ext cx="689540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 descr="Uma imagem com texto, captura de ecrã, diagrama, Gráfico&#10;&#10;Descrição gerada automaticamente">
            <a:extLst>
              <a:ext uri="{FF2B5EF4-FFF2-40B4-BE49-F238E27FC236}">
                <a16:creationId xmlns:a16="http://schemas.microsoft.com/office/drawing/2014/main" id="{84134F17-D99D-4317-DE9A-6B9A08116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" y="2048864"/>
            <a:ext cx="6000750" cy="3703320"/>
          </a:xfrm>
          <a:prstGeom prst="rect">
            <a:avLst/>
          </a:prstGeom>
        </p:spPr>
      </p:pic>
      <p:sp>
        <p:nvSpPr>
          <p:cNvPr id="155" name="Google Shape;155;p19"/>
          <p:cNvSpPr txBox="1"/>
          <p:nvPr/>
        </p:nvSpPr>
        <p:spPr>
          <a:xfrm>
            <a:off x="-12" y="1269908"/>
            <a:ext cx="7715904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Dados </a:t>
            </a:r>
            <a:r>
              <a:rPr lang="en-US" dirty="0" err="1">
                <a:solidFill>
                  <a:schemeClr val="dk1"/>
                </a:solidFill>
              </a:rPr>
              <a:t>normalizados</a:t>
            </a:r>
            <a:r>
              <a:rPr lang="en-US" dirty="0">
                <a:solidFill>
                  <a:schemeClr val="dk1"/>
                </a:solidFill>
              </a:rPr>
              <a:t> -  3ª e 4ª </a:t>
            </a:r>
            <a:r>
              <a:rPr lang="en-US" dirty="0" err="1">
                <a:solidFill>
                  <a:schemeClr val="dk1"/>
                </a:solidFill>
              </a:rPr>
              <a:t>afinação</a:t>
            </a:r>
            <a:r>
              <a:rPr lang="en-US" dirty="0">
                <a:solidFill>
                  <a:schemeClr val="dk1"/>
                </a:solidFill>
              </a:rPr>
              <a:t> de </a:t>
            </a:r>
            <a:r>
              <a:rPr lang="en-US" dirty="0" err="1">
                <a:solidFill>
                  <a:schemeClr val="dk1"/>
                </a:solidFill>
              </a:rPr>
              <a:t>hiperparâmetros</a:t>
            </a: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158" name="Google Shape;158;p19"/>
          <p:cNvGraphicFramePr/>
          <p:nvPr>
            <p:extLst>
              <p:ext uri="{D42A27DB-BD31-4B8C-83A1-F6EECF244321}">
                <p14:modId xmlns:p14="http://schemas.microsoft.com/office/powerpoint/2010/main" val="3116350752"/>
              </p:ext>
            </p:extLst>
          </p:nvPr>
        </p:nvGraphicFramePr>
        <p:xfrm>
          <a:off x="4355262" y="5638548"/>
          <a:ext cx="4168125" cy="1188630"/>
        </p:xfrm>
        <a:graphic>
          <a:graphicData uri="http://schemas.openxmlformats.org/drawingml/2006/table">
            <a:tbl>
              <a:tblPr>
                <a:tableStyleId>{F65BD0AB-35EC-46CF-8008-AF1E710A26E6}</a:tableStyleId>
              </a:tblPr>
              <a:tblGrid>
                <a:gridCol w="138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3ª afinação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4ª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RMSE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20.24301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20.23482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MAPE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108.7862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109.0503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182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5051834" y="287429"/>
            <a:ext cx="676865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-12" y="1269908"/>
            <a:ext cx="7715904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Dados </a:t>
            </a:r>
            <a:r>
              <a:rPr lang="en-US" dirty="0" err="1">
                <a:solidFill>
                  <a:schemeClr val="dk1"/>
                </a:solidFill>
              </a:rPr>
              <a:t>não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normalizados</a:t>
            </a:r>
            <a:r>
              <a:rPr lang="en-US" dirty="0">
                <a:solidFill>
                  <a:schemeClr val="dk1"/>
                </a:solidFill>
              </a:rPr>
              <a:t> -  5ª e 6ª </a:t>
            </a:r>
            <a:r>
              <a:rPr lang="en-US" dirty="0" err="1">
                <a:solidFill>
                  <a:schemeClr val="dk1"/>
                </a:solidFill>
              </a:rPr>
              <a:t>afinação</a:t>
            </a:r>
            <a:r>
              <a:rPr lang="en-US" dirty="0">
                <a:solidFill>
                  <a:schemeClr val="dk1"/>
                </a:solidFill>
              </a:rPr>
              <a:t> de </a:t>
            </a:r>
            <a:r>
              <a:rPr lang="en-US" dirty="0" err="1">
                <a:solidFill>
                  <a:schemeClr val="dk1"/>
                </a:solidFill>
              </a:rPr>
              <a:t>hiperparâmetros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3" name="Imagem 2" descr="Uma imagem com texto, captura de ecrã, diagrama, file&#10;&#10;Descrição gerada automaticamente">
            <a:extLst>
              <a:ext uri="{FF2B5EF4-FFF2-40B4-BE49-F238E27FC236}">
                <a16:creationId xmlns:a16="http://schemas.microsoft.com/office/drawing/2014/main" id="{EB3FF268-4B57-1136-1FF4-B0FCE52F2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" y="2089955"/>
            <a:ext cx="6000750" cy="3703320"/>
          </a:xfrm>
          <a:prstGeom prst="rect">
            <a:avLst/>
          </a:prstGeom>
        </p:spPr>
      </p:pic>
      <p:pic>
        <p:nvPicPr>
          <p:cNvPr id="6" name="Imagem 5" descr="Uma imagem com texto, captura de ecrã, diagrama, file&#10;&#10;Descrição gerada automaticamente">
            <a:extLst>
              <a:ext uri="{FF2B5EF4-FFF2-40B4-BE49-F238E27FC236}">
                <a16:creationId xmlns:a16="http://schemas.microsoft.com/office/drawing/2014/main" id="{87BB8D48-9590-59E4-1B1A-36B5FA64E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6488" y="2133432"/>
            <a:ext cx="6000750" cy="3703320"/>
          </a:xfrm>
          <a:prstGeom prst="rect">
            <a:avLst/>
          </a:prstGeom>
        </p:spPr>
      </p:pic>
      <p:graphicFrame>
        <p:nvGraphicFramePr>
          <p:cNvPr id="158" name="Google Shape;158;p19"/>
          <p:cNvGraphicFramePr/>
          <p:nvPr>
            <p:extLst>
              <p:ext uri="{D42A27DB-BD31-4B8C-83A1-F6EECF244321}">
                <p14:modId xmlns:p14="http://schemas.microsoft.com/office/powerpoint/2010/main" val="960671849"/>
              </p:ext>
            </p:extLst>
          </p:nvPr>
        </p:nvGraphicFramePr>
        <p:xfrm>
          <a:off x="4355262" y="5648822"/>
          <a:ext cx="4168125" cy="1188630"/>
        </p:xfrm>
        <a:graphic>
          <a:graphicData uri="http://schemas.openxmlformats.org/drawingml/2006/table">
            <a:tbl>
              <a:tblPr>
                <a:tableStyleId>{F65BD0AB-35EC-46CF-8008-AF1E710A26E6}</a:tableStyleId>
              </a:tblPr>
              <a:tblGrid>
                <a:gridCol w="138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5ª </a:t>
                      </a: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6ª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RMSE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20.22938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20.21717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MAPE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108.8430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109.0580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CF71DE15-0762-AF39-CDC1-640BD6916429}"/>
              </a:ext>
            </a:extLst>
          </p:cNvPr>
          <p:cNvSpPr/>
          <p:nvPr/>
        </p:nvSpPr>
        <p:spPr>
          <a:xfrm>
            <a:off x="4109664" y="4530906"/>
            <a:ext cx="1892586" cy="1117916"/>
          </a:xfrm>
          <a:prstGeom prst="ellipse">
            <a:avLst/>
          </a:prstGeom>
          <a:noFill/>
          <a:ln>
            <a:solidFill>
              <a:srgbClr val="DEC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8E3DE2E-E95C-2C4C-86F1-B2C53DB8B789}"/>
              </a:ext>
            </a:extLst>
          </p:cNvPr>
          <p:cNvSpPr/>
          <p:nvPr/>
        </p:nvSpPr>
        <p:spPr>
          <a:xfrm>
            <a:off x="10262262" y="4530905"/>
            <a:ext cx="1834488" cy="1269899"/>
          </a:xfrm>
          <a:prstGeom prst="ellipse">
            <a:avLst/>
          </a:prstGeom>
          <a:noFill/>
          <a:ln>
            <a:solidFill>
              <a:srgbClr val="DEC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97D23A4-79D2-FB59-762B-B62A5CB400A4}"/>
              </a:ext>
            </a:extLst>
          </p:cNvPr>
          <p:cNvSpPr/>
          <p:nvPr/>
        </p:nvSpPr>
        <p:spPr>
          <a:xfrm>
            <a:off x="3088151" y="4602825"/>
            <a:ext cx="343417" cy="817332"/>
          </a:xfrm>
          <a:prstGeom prst="ellipse">
            <a:avLst/>
          </a:prstGeom>
          <a:noFill/>
          <a:ln>
            <a:solidFill>
              <a:srgbClr val="DEC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718A39-DC71-FED1-744C-BFEF9EF5A6BF}"/>
              </a:ext>
            </a:extLst>
          </p:cNvPr>
          <p:cNvSpPr/>
          <p:nvPr/>
        </p:nvSpPr>
        <p:spPr>
          <a:xfrm>
            <a:off x="9200568" y="4695544"/>
            <a:ext cx="343417" cy="817332"/>
          </a:xfrm>
          <a:prstGeom prst="ellipse">
            <a:avLst/>
          </a:prstGeom>
          <a:noFill/>
          <a:ln>
            <a:solidFill>
              <a:srgbClr val="DEC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74607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4988459" y="287429"/>
            <a:ext cx="683202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-12" y="1269908"/>
            <a:ext cx="7171374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Dados </a:t>
            </a:r>
            <a:r>
              <a:rPr lang="en-US" dirty="0" err="1">
                <a:solidFill>
                  <a:schemeClr val="dk1"/>
                </a:solidFill>
              </a:rPr>
              <a:t>normalizados</a:t>
            </a:r>
            <a:r>
              <a:rPr lang="en-US" dirty="0">
                <a:solidFill>
                  <a:schemeClr val="dk1"/>
                </a:solidFill>
              </a:rPr>
              <a:t> - 1ª e 3ª </a:t>
            </a:r>
            <a:r>
              <a:rPr lang="en-US" dirty="0" err="1">
                <a:solidFill>
                  <a:schemeClr val="dk1"/>
                </a:solidFill>
              </a:rPr>
              <a:t>afinação</a:t>
            </a:r>
            <a:r>
              <a:rPr lang="en-US" dirty="0">
                <a:solidFill>
                  <a:schemeClr val="dk1"/>
                </a:solidFill>
              </a:rPr>
              <a:t> de </a:t>
            </a:r>
            <a:r>
              <a:rPr lang="en-US" dirty="0" err="1">
                <a:solidFill>
                  <a:schemeClr val="dk1"/>
                </a:solidFill>
              </a:rPr>
              <a:t>hiperparâmetros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62701"/>
            <a:ext cx="5774076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7924" y="2291599"/>
            <a:ext cx="5774076" cy="35287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6546BE7C-0E39-EAC3-0572-469A72FE06CB}"/>
              </a:ext>
            </a:extLst>
          </p:cNvPr>
          <p:cNvSpPr/>
          <p:nvPr/>
        </p:nvSpPr>
        <p:spPr>
          <a:xfrm>
            <a:off x="4068566" y="4623371"/>
            <a:ext cx="267129" cy="840518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28D025-2D2D-F1F4-8ECF-A68F45649903}"/>
              </a:ext>
            </a:extLst>
          </p:cNvPr>
          <p:cNvSpPr/>
          <p:nvPr/>
        </p:nvSpPr>
        <p:spPr>
          <a:xfrm>
            <a:off x="3489787" y="4652231"/>
            <a:ext cx="267129" cy="840518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A7C5E0B-53F5-FB62-E5EC-F6D6EB8D41DB}"/>
              </a:ext>
            </a:extLst>
          </p:cNvPr>
          <p:cNvSpPr/>
          <p:nvPr/>
        </p:nvSpPr>
        <p:spPr>
          <a:xfrm>
            <a:off x="9927707" y="4631683"/>
            <a:ext cx="267129" cy="840518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8557F5C-5F68-5722-5B02-564484189D87}"/>
              </a:ext>
            </a:extLst>
          </p:cNvPr>
          <p:cNvSpPr/>
          <p:nvPr/>
        </p:nvSpPr>
        <p:spPr>
          <a:xfrm>
            <a:off x="10512783" y="4672779"/>
            <a:ext cx="267129" cy="840518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D0B88D-583C-40DC-D539-794F1CB12259}"/>
              </a:ext>
            </a:extLst>
          </p:cNvPr>
          <p:cNvSpPr/>
          <p:nvPr/>
        </p:nvSpPr>
        <p:spPr>
          <a:xfrm>
            <a:off x="2340793" y="4632595"/>
            <a:ext cx="267129" cy="648322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7969DA-29F8-48C1-94CA-79F97A86F773}"/>
              </a:ext>
            </a:extLst>
          </p:cNvPr>
          <p:cNvSpPr/>
          <p:nvPr/>
        </p:nvSpPr>
        <p:spPr>
          <a:xfrm>
            <a:off x="1756880" y="4622321"/>
            <a:ext cx="267129" cy="840518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7360C0A-BD1A-BE4C-D45D-29166E0D48B0}"/>
              </a:ext>
            </a:extLst>
          </p:cNvPr>
          <p:cNvSpPr/>
          <p:nvPr/>
        </p:nvSpPr>
        <p:spPr>
          <a:xfrm>
            <a:off x="8758896" y="4672779"/>
            <a:ext cx="267129" cy="840518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A2616FD-2FBD-FA19-7219-02FDE17F55F4}"/>
              </a:ext>
            </a:extLst>
          </p:cNvPr>
          <p:cNvSpPr/>
          <p:nvPr/>
        </p:nvSpPr>
        <p:spPr>
          <a:xfrm>
            <a:off x="8174491" y="4672779"/>
            <a:ext cx="267129" cy="648322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08BFEF0-AF6F-3808-283D-4A831A1BDB62}"/>
              </a:ext>
            </a:extLst>
          </p:cNvPr>
          <p:cNvSpPr/>
          <p:nvPr/>
        </p:nvSpPr>
        <p:spPr>
          <a:xfrm>
            <a:off x="611311" y="4632595"/>
            <a:ext cx="291101" cy="860154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3967FFC-F5E8-8154-69F8-E03C29932411}"/>
              </a:ext>
            </a:extLst>
          </p:cNvPr>
          <p:cNvSpPr/>
          <p:nvPr/>
        </p:nvSpPr>
        <p:spPr>
          <a:xfrm>
            <a:off x="1174461" y="4652231"/>
            <a:ext cx="291101" cy="860154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01C666-FEE3-1DE6-798F-33AD8956F1FD}"/>
              </a:ext>
            </a:extLst>
          </p:cNvPr>
          <p:cNvSpPr/>
          <p:nvPr/>
        </p:nvSpPr>
        <p:spPr>
          <a:xfrm>
            <a:off x="7022625" y="4678216"/>
            <a:ext cx="291101" cy="860154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9BF2249-CAAE-D1C5-55C1-3509CA6D3862}"/>
              </a:ext>
            </a:extLst>
          </p:cNvPr>
          <p:cNvSpPr/>
          <p:nvPr/>
        </p:nvSpPr>
        <p:spPr>
          <a:xfrm>
            <a:off x="7585198" y="4673235"/>
            <a:ext cx="291101" cy="860154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aphicFrame>
        <p:nvGraphicFramePr>
          <p:cNvPr id="14" name="Google Shape;158;p19">
            <a:extLst>
              <a:ext uri="{FF2B5EF4-FFF2-40B4-BE49-F238E27FC236}">
                <a16:creationId xmlns:a16="http://schemas.microsoft.com/office/drawing/2014/main" id="{79EDCB2D-A428-4569-44B9-A0583593BA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1703629"/>
              </p:ext>
            </p:extLst>
          </p:nvPr>
        </p:nvGraphicFramePr>
        <p:xfrm>
          <a:off x="4355262" y="5628274"/>
          <a:ext cx="4168125" cy="1188630"/>
        </p:xfrm>
        <a:graphic>
          <a:graphicData uri="http://schemas.openxmlformats.org/drawingml/2006/table">
            <a:tbl>
              <a:tblPr>
                <a:tableStyleId>{F65BD0AB-35EC-46CF-8008-AF1E710A26E6}</a:tableStyleId>
              </a:tblPr>
              <a:tblGrid>
                <a:gridCol w="138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1ª </a:t>
                      </a: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3ª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RMSE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20.23332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20.24301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MAPE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108.9484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108.7862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/>
          <p:nvPr/>
        </p:nvSpPr>
        <p:spPr>
          <a:xfrm>
            <a:off x="0" y="0"/>
            <a:ext cx="2964000" cy="6858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282577" y="1670081"/>
            <a:ext cx="22446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825501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3" descr="Uma imagem com texto, Tipo de letra, captura de ecrã, Retângul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587" y="6106336"/>
            <a:ext cx="1499615" cy="84340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 txBox="1"/>
          <p:nvPr/>
        </p:nvSpPr>
        <p:spPr>
          <a:xfrm>
            <a:off x="3047988" y="82108"/>
            <a:ext cx="60960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Dados </a:t>
            </a:r>
            <a:r>
              <a:rPr lang="en-US" dirty="0" err="1">
                <a:solidFill>
                  <a:schemeClr val="dk1"/>
                </a:solidFill>
              </a:rPr>
              <a:t>normalizados</a:t>
            </a:r>
            <a:r>
              <a:rPr lang="en-US" dirty="0">
                <a:solidFill>
                  <a:schemeClr val="dk1"/>
                </a:solidFill>
              </a:rPr>
              <a:t> - </a:t>
            </a:r>
            <a:r>
              <a:rPr lang="en-US" dirty="0" err="1">
                <a:solidFill>
                  <a:schemeClr val="dk1"/>
                </a:solidFill>
              </a:rPr>
              <a:t>Modelo</a:t>
            </a:r>
            <a:r>
              <a:rPr lang="en-US" dirty="0">
                <a:solidFill>
                  <a:schemeClr val="dk1"/>
                </a:solidFill>
              </a:rPr>
              <a:t> final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203" name="Google Shape;20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7338" y="1371600"/>
            <a:ext cx="6667500" cy="411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B0B71BF-50F3-0602-592B-FF4368E21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054038"/>
              </p:ext>
            </p:extLst>
          </p:nvPr>
        </p:nvGraphicFramePr>
        <p:xfrm>
          <a:off x="3758058" y="5645791"/>
          <a:ext cx="2971515" cy="741680"/>
        </p:xfrm>
        <a:graphic>
          <a:graphicData uri="http://schemas.openxmlformats.org/drawingml/2006/table">
            <a:tbl>
              <a:tblPr firstRow="1" bandRow="1">
                <a:tableStyleId>{F65BD0AB-35EC-46CF-8008-AF1E710A26E6}</a:tableStyleId>
              </a:tblPr>
              <a:tblGrid>
                <a:gridCol w="1379021">
                  <a:extLst>
                    <a:ext uri="{9D8B030D-6E8A-4147-A177-3AD203B41FA5}">
                      <a16:colId xmlns:a16="http://schemas.microsoft.com/office/drawing/2014/main" val="780246598"/>
                    </a:ext>
                  </a:extLst>
                </a:gridCol>
                <a:gridCol w="1592494">
                  <a:extLst>
                    <a:ext uri="{9D8B030D-6E8A-4147-A177-3AD203B41FA5}">
                      <a16:colId xmlns:a16="http://schemas.microsoft.com/office/drawing/2014/main" val="3035538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RMSE</a:t>
                      </a:r>
                    </a:p>
                  </a:txBody>
                  <a:tcPr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b="0" dirty="0"/>
                        <a:t>20.22463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238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MAPE</a:t>
                      </a:r>
                    </a:p>
                  </a:txBody>
                  <a:tcPr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dirty="0">
                          <a:effectLst/>
                        </a:rPr>
                        <a:t>108.9634</a:t>
                      </a:r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12301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042F5019-087C-BB57-3617-794DA7A94EC8}"/>
              </a:ext>
            </a:extLst>
          </p:cNvPr>
          <p:cNvSpPr txBox="1"/>
          <p:nvPr/>
        </p:nvSpPr>
        <p:spPr>
          <a:xfrm>
            <a:off x="8552466" y="5648807"/>
            <a:ext cx="3102947" cy="738664"/>
          </a:xfrm>
          <a:prstGeom prst="rect">
            <a:avLst/>
          </a:prstGeom>
          <a:solidFill>
            <a:srgbClr val="F6EFE6"/>
          </a:solidFill>
          <a:ln>
            <a:solidFill>
              <a:srgbClr val="DEC6A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Variáveis com maior importância: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instrumentalness</a:t>
            </a:r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loudness</a:t>
            </a:r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069941" y="287429"/>
            <a:ext cx="675054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12;p24">
            <a:extLst>
              <a:ext uri="{FF2B5EF4-FFF2-40B4-BE49-F238E27FC236}">
                <a16:creationId xmlns:a16="http://schemas.microsoft.com/office/drawing/2014/main" id="{08CB135B-2F41-8EC6-70E8-5E22DAC74D0F}"/>
              </a:ext>
            </a:extLst>
          </p:cNvPr>
          <p:cNvSpPr txBox="1"/>
          <p:nvPr/>
        </p:nvSpPr>
        <p:spPr>
          <a:xfrm>
            <a:off x="0" y="1212826"/>
            <a:ext cx="69714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Google Shape;215;p24">
            <a:extLst>
              <a:ext uri="{FF2B5EF4-FFF2-40B4-BE49-F238E27FC236}">
                <a16:creationId xmlns:a16="http://schemas.microsoft.com/office/drawing/2014/main" id="{F9B8C695-E342-0FC5-1640-023C60F44BE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016794"/>
            <a:ext cx="5619964" cy="3473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16;p24">
            <a:extLst>
              <a:ext uri="{FF2B5EF4-FFF2-40B4-BE49-F238E27FC236}">
                <a16:creationId xmlns:a16="http://schemas.microsoft.com/office/drawing/2014/main" id="{39B5AA4E-329D-1B7F-1770-2DB98487A2F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0671" y="2074405"/>
            <a:ext cx="5421330" cy="34736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C7E8B473-CF3E-D9EE-E126-A5809B521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972811"/>
              </p:ext>
            </p:extLst>
          </p:nvPr>
        </p:nvGraphicFramePr>
        <p:xfrm>
          <a:off x="1533133" y="5490431"/>
          <a:ext cx="9125735" cy="1259840"/>
        </p:xfrm>
        <a:graphic>
          <a:graphicData uri="http://schemas.openxmlformats.org/drawingml/2006/table">
            <a:tbl>
              <a:tblPr firstRow="1" bandRow="1">
                <a:tableStyleId>{F65BD0AB-35EC-46CF-8008-AF1E710A26E6}</a:tableStyleId>
              </a:tblPr>
              <a:tblGrid>
                <a:gridCol w="1119409">
                  <a:extLst>
                    <a:ext uri="{9D8B030D-6E8A-4147-A177-3AD203B41FA5}">
                      <a16:colId xmlns:a16="http://schemas.microsoft.com/office/drawing/2014/main" val="3442927987"/>
                    </a:ext>
                  </a:extLst>
                </a:gridCol>
                <a:gridCol w="3893905">
                  <a:extLst>
                    <a:ext uri="{9D8B030D-6E8A-4147-A177-3AD203B41FA5}">
                      <a16:colId xmlns:a16="http://schemas.microsoft.com/office/drawing/2014/main" val="1896462540"/>
                    </a:ext>
                  </a:extLst>
                </a:gridCol>
                <a:gridCol w="4112421">
                  <a:extLst>
                    <a:ext uri="{9D8B030D-6E8A-4147-A177-3AD203B41FA5}">
                      <a16:colId xmlns:a16="http://schemas.microsoft.com/office/drawing/2014/main" val="3306131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PT" b="1" dirty="0"/>
                        <a:t>Dados não normalizados no modelo dos dados normalizados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PT" b="1" dirty="0"/>
                        <a:t>Dados normalizados no modelo dos dados      não normalizados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8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19.95978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20.24965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842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MAPE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108.9427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108.9427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309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051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/>
          <p:nvPr/>
        </p:nvSpPr>
        <p:spPr>
          <a:xfrm>
            <a:off x="0" y="0"/>
            <a:ext cx="2964000" cy="6858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3047987" y="82108"/>
            <a:ext cx="660097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Neuronais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Nnet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Package)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6" name="Google Shape;17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825501" cy="812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" name="Google Shape;177;p21"/>
          <p:cNvGraphicFramePr/>
          <p:nvPr>
            <p:extLst>
              <p:ext uri="{D42A27DB-BD31-4B8C-83A1-F6EECF244321}">
                <p14:modId xmlns:p14="http://schemas.microsoft.com/office/powerpoint/2010/main" val="1039931258"/>
              </p:ext>
            </p:extLst>
          </p:nvPr>
        </p:nvGraphicFramePr>
        <p:xfrm>
          <a:off x="3091379" y="1838702"/>
          <a:ext cx="8825029" cy="1324757"/>
        </p:xfrm>
        <a:graphic>
          <a:graphicData uri="http://schemas.openxmlformats.org/drawingml/2006/table">
            <a:tbl>
              <a:tblPr>
                <a:tableStyleId>{F65BD0AB-35EC-46CF-8008-AF1E710A26E6}</a:tableStyleId>
              </a:tblPr>
              <a:tblGrid>
                <a:gridCol w="3504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6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Hiperparâmetros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1ª </a:t>
                      </a:r>
                      <a:r>
                        <a:rPr lang="en-US" b="1" dirty="0" err="1"/>
                        <a:t>afinação</a:t>
                      </a:r>
                      <a:r>
                        <a:rPr lang="en-US" b="1" dirty="0"/>
                        <a:t> 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2ª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41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Size (</a:t>
                      </a:r>
                      <a:r>
                        <a:rPr lang="en-US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Número</a:t>
                      </a: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de Nodes no Hidden Layer)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16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16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6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Decay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6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7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79" name="Google Shape;179;p21" descr="Uma imagem com texto, Tipo de letra, captura de ecrã, Retângul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192" y="6014594"/>
            <a:ext cx="1499615" cy="84340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0" name="Google Shape;180;p21"/>
          <p:cNvGraphicFramePr/>
          <p:nvPr>
            <p:extLst>
              <p:ext uri="{D42A27DB-BD31-4B8C-83A1-F6EECF244321}">
                <p14:modId xmlns:p14="http://schemas.microsoft.com/office/powerpoint/2010/main" val="3838966959"/>
              </p:ext>
            </p:extLst>
          </p:nvPr>
        </p:nvGraphicFramePr>
        <p:xfrm>
          <a:off x="5294538" y="3884131"/>
          <a:ext cx="3849450" cy="1401990"/>
        </p:xfrm>
        <a:graphic>
          <a:graphicData uri="http://schemas.openxmlformats.org/drawingml/2006/table">
            <a:tbl>
              <a:tblPr>
                <a:tableStyleId>{F65BD0AB-35EC-46CF-8008-AF1E710A26E6}</a:tableStyleId>
              </a:tblPr>
              <a:tblGrid>
                <a:gridCol w="13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Medidas</a:t>
                      </a:r>
                      <a:r>
                        <a:rPr lang="en-US" b="1" dirty="0"/>
                        <a:t> de performance</a:t>
                      </a:r>
                      <a:endParaRPr b="1" dirty="0"/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1ª </a:t>
                      </a:r>
                      <a:r>
                        <a:rPr lang="en-US" b="1" dirty="0" err="1"/>
                        <a:t>afinação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2ª </a:t>
                      </a:r>
                      <a:r>
                        <a:rPr lang="en-US" b="1" dirty="0" err="1">
                          <a:solidFill>
                            <a:schemeClr val="dk1"/>
                          </a:solidFill>
                        </a:rPr>
                        <a:t>afinação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RMSE</a:t>
                      </a:r>
                      <a:endParaRPr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20.106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20.104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MAPE</a:t>
                      </a:r>
                      <a:endParaRPr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113.146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113.176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Google Shape;175;p21">
            <a:extLst>
              <a:ext uri="{FF2B5EF4-FFF2-40B4-BE49-F238E27FC236}">
                <a16:creationId xmlns:a16="http://schemas.microsoft.com/office/drawing/2014/main" id="{366AECE9-3377-F7F3-98BA-51A31D03D4BF}"/>
              </a:ext>
            </a:extLst>
          </p:cNvPr>
          <p:cNvSpPr txBox="1"/>
          <p:nvPr/>
        </p:nvSpPr>
        <p:spPr>
          <a:xfrm>
            <a:off x="3047988" y="1310365"/>
            <a:ext cx="60960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Tuning</a:t>
            </a:r>
            <a:endParaRPr sz="20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Google Shape;222;p25">
            <a:extLst>
              <a:ext uri="{FF2B5EF4-FFF2-40B4-BE49-F238E27FC236}">
                <a16:creationId xmlns:a16="http://schemas.microsoft.com/office/drawing/2014/main" id="{C08C33A4-5202-C700-42B6-EA0C4032A4F4}"/>
              </a:ext>
            </a:extLst>
          </p:cNvPr>
          <p:cNvSpPr txBox="1"/>
          <p:nvPr/>
        </p:nvSpPr>
        <p:spPr>
          <a:xfrm>
            <a:off x="282577" y="1670081"/>
            <a:ext cx="224472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5973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/>
          <p:nvPr/>
        </p:nvSpPr>
        <p:spPr>
          <a:xfrm>
            <a:off x="0" y="0"/>
            <a:ext cx="2963863" cy="6858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5"/>
          <p:cNvSpPr txBox="1"/>
          <p:nvPr/>
        </p:nvSpPr>
        <p:spPr>
          <a:xfrm>
            <a:off x="282577" y="1670081"/>
            <a:ext cx="224472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8255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5" descr="Uma imagem com texto, Tipo de letra, captura de ecrã, Retângul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587" y="6106336"/>
            <a:ext cx="1499616" cy="84340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5"/>
          <p:cNvSpPr txBox="1"/>
          <p:nvPr/>
        </p:nvSpPr>
        <p:spPr>
          <a:xfrm>
            <a:off x="3192494" y="287429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neuronais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E7911DD-F2A4-78FA-D3C7-885FE0D0E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7112" y="1376362"/>
            <a:ext cx="7934504" cy="47299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12;p24">
            <a:extLst>
              <a:ext uri="{FF2B5EF4-FFF2-40B4-BE49-F238E27FC236}">
                <a16:creationId xmlns:a16="http://schemas.microsoft.com/office/drawing/2014/main" id="{08CB135B-2F41-8EC6-70E8-5E22DAC74D0F}"/>
              </a:ext>
            </a:extLst>
          </p:cNvPr>
          <p:cNvSpPr txBox="1"/>
          <p:nvPr/>
        </p:nvSpPr>
        <p:spPr>
          <a:xfrm>
            <a:off x="9018637" y="249592"/>
            <a:ext cx="69714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Neuronais</a:t>
            </a:r>
            <a:endParaRPr lang="en-US"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Google Shape;175;p21">
            <a:extLst>
              <a:ext uri="{FF2B5EF4-FFF2-40B4-BE49-F238E27FC236}">
                <a16:creationId xmlns:a16="http://schemas.microsoft.com/office/drawing/2014/main" id="{366AECE9-3377-F7F3-98BA-51A31D03D4BF}"/>
              </a:ext>
            </a:extLst>
          </p:cNvPr>
          <p:cNvSpPr txBox="1"/>
          <p:nvPr/>
        </p:nvSpPr>
        <p:spPr>
          <a:xfrm>
            <a:off x="9294760" y="562163"/>
            <a:ext cx="60960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h2o Package</a:t>
            </a:r>
            <a:endParaRPr sz="20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2EC03E4-2CF1-A1DD-8151-0DE16BF89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8" y="1881712"/>
            <a:ext cx="12051164" cy="409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976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/>
          <p:nvPr/>
        </p:nvSpPr>
        <p:spPr>
          <a:xfrm>
            <a:off x="0" y="0"/>
            <a:ext cx="2964000" cy="6858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267009" y="3752969"/>
            <a:ext cx="2244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Neuronais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pic>
        <p:nvPicPr>
          <p:cNvPr id="176" name="Google Shape;17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825501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 descr="Uma imagem com texto, Tipo de letra, captura de ecrã, Retângul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192" y="6014594"/>
            <a:ext cx="1499615" cy="843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3439ABC-301F-7967-F9BC-6BA88E172F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8985" y="916251"/>
            <a:ext cx="8786006" cy="5771798"/>
          </a:xfrm>
          <a:prstGeom prst="rect">
            <a:avLst/>
          </a:prstGeom>
        </p:spPr>
      </p:pic>
      <p:sp>
        <p:nvSpPr>
          <p:cNvPr id="3" name="Google Shape;222;p25">
            <a:extLst>
              <a:ext uri="{FF2B5EF4-FFF2-40B4-BE49-F238E27FC236}">
                <a16:creationId xmlns:a16="http://schemas.microsoft.com/office/drawing/2014/main" id="{AB58FFE7-9D59-DDDB-5FB4-F5A8B85AABC6}"/>
              </a:ext>
            </a:extLst>
          </p:cNvPr>
          <p:cNvSpPr txBox="1"/>
          <p:nvPr/>
        </p:nvSpPr>
        <p:spPr>
          <a:xfrm>
            <a:off x="282577" y="1670081"/>
            <a:ext cx="224472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94783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12;p24">
            <a:extLst>
              <a:ext uri="{FF2B5EF4-FFF2-40B4-BE49-F238E27FC236}">
                <a16:creationId xmlns:a16="http://schemas.microsoft.com/office/drawing/2014/main" id="{08CB135B-2F41-8EC6-70E8-5E22DAC74D0F}"/>
              </a:ext>
            </a:extLst>
          </p:cNvPr>
          <p:cNvSpPr txBox="1"/>
          <p:nvPr/>
        </p:nvSpPr>
        <p:spPr>
          <a:xfrm>
            <a:off x="7849354" y="198290"/>
            <a:ext cx="415914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Neuronais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>
              <a:buClr>
                <a:schemeClr val="dk1"/>
              </a:buClr>
              <a:buSzPts val="1800"/>
            </a:pP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Comparação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Modelos</a:t>
            </a:r>
            <a:endParaRPr lang="en-US"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EEDF68B-D37D-43F9-E3DB-9DA5DC78B7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299"/>
          <a:stretch/>
        </p:blipFill>
        <p:spPr>
          <a:xfrm>
            <a:off x="5810615" y="1817655"/>
            <a:ext cx="6381385" cy="411515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FED831E-E8FA-7616-EBA5-988C02A46EE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854"/>
          <a:stretch/>
        </p:blipFill>
        <p:spPr>
          <a:xfrm>
            <a:off x="0" y="1877895"/>
            <a:ext cx="5810615" cy="405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0214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"/>
          <p:cNvSpPr/>
          <p:nvPr/>
        </p:nvSpPr>
        <p:spPr>
          <a:xfrm>
            <a:off x="0" y="0"/>
            <a:ext cx="2963863" cy="6858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8255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6" descr="Uma imagem com texto, Tipo de letra, captura de ecrã, Retângul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587" y="6106336"/>
            <a:ext cx="1499616" cy="84340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6"/>
          <p:cNvSpPr txBox="1"/>
          <p:nvPr/>
        </p:nvSpPr>
        <p:spPr>
          <a:xfrm>
            <a:off x="2963863" y="61644"/>
            <a:ext cx="6096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Máquina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vetores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suporte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(SVM)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36" name="Google Shape;236;p26"/>
          <p:cNvSpPr txBox="1"/>
          <p:nvPr/>
        </p:nvSpPr>
        <p:spPr>
          <a:xfrm>
            <a:off x="2995675" y="1735350"/>
            <a:ext cx="58419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 err="1">
                <a:solidFill>
                  <a:schemeClr val="dk1"/>
                </a:solidFill>
              </a:rPr>
              <a:t>Realização</a:t>
            </a:r>
            <a:r>
              <a:rPr lang="en-US" dirty="0">
                <a:solidFill>
                  <a:schemeClr val="dk1"/>
                </a:solidFill>
              </a:rPr>
              <a:t> da </a:t>
            </a:r>
            <a:r>
              <a:rPr lang="en-US" dirty="0" err="1">
                <a:solidFill>
                  <a:schemeClr val="dk1"/>
                </a:solidFill>
              </a:rPr>
              <a:t>função</a:t>
            </a:r>
            <a:r>
              <a:rPr lang="en-US" dirty="0">
                <a:solidFill>
                  <a:schemeClr val="dk1"/>
                </a:solidFill>
              </a:rPr>
              <a:t> tune para </a:t>
            </a:r>
            <a:r>
              <a:rPr lang="en-US" dirty="0" err="1">
                <a:solidFill>
                  <a:schemeClr val="dk1"/>
                </a:solidFill>
              </a:rPr>
              <a:t>afinar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hiperparâmetros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dirty="0">
                <a:solidFill>
                  <a:schemeClr val="dk1"/>
                </a:solidFill>
              </a:rPr>
              <a:t>Cost;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dirty="0">
                <a:solidFill>
                  <a:schemeClr val="dk1"/>
                </a:solidFill>
              </a:rPr>
              <a:t>Gamma;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dirty="0">
                <a:solidFill>
                  <a:schemeClr val="dk1"/>
                </a:solidFill>
              </a:rPr>
              <a:t>Epsilon;</a:t>
            </a:r>
            <a:endParaRPr dirty="0">
              <a:solidFill>
                <a:schemeClr val="dk1"/>
              </a:solidFill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 err="1">
                <a:solidFill>
                  <a:schemeClr val="dk1"/>
                </a:solidFill>
              </a:rPr>
              <a:t>Repetir</a:t>
            </a:r>
            <a:r>
              <a:rPr lang="en-US" dirty="0">
                <a:solidFill>
                  <a:schemeClr val="dk1"/>
                </a:solidFill>
              </a:rPr>
              <a:t> o tune </a:t>
            </a:r>
            <a:r>
              <a:rPr lang="en-US" dirty="0" err="1">
                <a:solidFill>
                  <a:schemeClr val="dk1"/>
                </a:solidFill>
              </a:rPr>
              <a:t>até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atingir</a:t>
            </a:r>
            <a:r>
              <a:rPr lang="en-US" dirty="0">
                <a:solidFill>
                  <a:schemeClr val="dk1"/>
                </a:solidFill>
              </a:rPr>
              <a:t>-se a </a:t>
            </a:r>
            <a:r>
              <a:rPr lang="en-US" dirty="0" err="1">
                <a:solidFill>
                  <a:schemeClr val="dk1"/>
                </a:solidFill>
              </a:rPr>
              <a:t>estagnação</a:t>
            </a: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dk1"/>
                </a:solidFill>
              </a:rPr>
              <a:t>nos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valores</a:t>
            </a:r>
            <a:r>
              <a:rPr lang="en-US" dirty="0">
                <a:solidFill>
                  <a:schemeClr val="dk1"/>
                </a:solidFill>
              </a:rPr>
              <a:t> dos </a:t>
            </a:r>
            <a:r>
              <a:rPr lang="en-US" dirty="0" err="1">
                <a:solidFill>
                  <a:schemeClr val="dk1"/>
                </a:solidFill>
              </a:rPr>
              <a:t>hiperparâmetros</a:t>
            </a:r>
            <a:r>
              <a:rPr lang="en-US" dirty="0">
                <a:solidFill>
                  <a:schemeClr val="dk1"/>
                </a:solidFill>
              </a:rPr>
              <a:t>;</a:t>
            </a: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</a:rPr>
              <a:t>Tune </a:t>
            </a:r>
            <a:r>
              <a:rPr lang="en-US" dirty="0" err="1">
                <a:solidFill>
                  <a:schemeClr val="dk1"/>
                </a:solidFill>
              </a:rPr>
              <a:t>realizado</a:t>
            </a:r>
            <a:r>
              <a:rPr lang="en-US" dirty="0">
                <a:solidFill>
                  <a:schemeClr val="dk1"/>
                </a:solidFill>
              </a:rPr>
              <a:t> com 10-fold cross-validation;</a:t>
            </a: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 err="1">
                <a:solidFill>
                  <a:schemeClr val="dk1"/>
                </a:solidFill>
              </a:rPr>
              <a:t>Recolha</a:t>
            </a:r>
            <a:r>
              <a:rPr lang="en-US" dirty="0">
                <a:solidFill>
                  <a:schemeClr val="dk1"/>
                </a:solidFill>
              </a:rPr>
              <a:t> do </a:t>
            </a:r>
            <a:r>
              <a:rPr lang="en-US" dirty="0" err="1">
                <a:solidFill>
                  <a:schemeClr val="dk1"/>
                </a:solidFill>
              </a:rPr>
              <a:t>melhor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modelo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após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cada</a:t>
            </a:r>
            <a:r>
              <a:rPr lang="en-US" dirty="0">
                <a:solidFill>
                  <a:schemeClr val="dk1"/>
                </a:solidFill>
              </a:rPr>
              <a:t> tuning, para</a:t>
            </a: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dk1"/>
                </a:solidFill>
              </a:rPr>
              <a:t>comparação</a:t>
            </a:r>
            <a:r>
              <a:rPr lang="en-US" dirty="0">
                <a:solidFill>
                  <a:schemeClr val="dk1"/>
                </a:solidFill>
              </a:rPr>
              <a:t> entre </a:t>
            </a:r>
            <a:r>
              <a:rPr lang="en-US" dirty="0" err="1">
                <a:solidFill>
                  <a:schemeClr val="dk1"/>
                </a:solidFill>
              </a:rPr>
              <a:t>eles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através</a:t>
            </a:r>
            <a:r>
              <a:rPr lang="en-US" dirty="0">
                <a:solidFill>
                  <a:schemeClr val="dk1"/>
                </a:solidFill>
              </a:rPr>
              <a:t> do RMSE e MAPE;</a:t>
            </a: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237" name="Google Shape;23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8000" y="2218225"/>
            <a:ext cx="4062525" cy="4108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Google Shape;222;p25">
            <a:extLst>
              <a:ext uri="{FF2B5EF4-FFF2-40B4-BE49-F238E27FC236}">
                <a16:creationId xmlns:a16="http://schemas.microsoft.com/office/drawing/2014/main" id="{9FB782CC-EF98-957C-AE7B-D2214A8099A6}"/>
              </a:ext>
            </a:extLst>
          </p:cNvPr>
          <p:cNvSpPr txBox="1"/>
          <p:nvPr/>
        </p:nvSpPr>
        <p:spPr>
          <a:xfrm>
            <a:off x="282577" y="1670081"/>
            <a:ext cx="224472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/>
          <p:nvPr/>
        </p:nvSpPr>
        <p:spPr>
          <a:xfrm>
            <a:off x="0" y="0"/>
            <a:ext cx="2964000" cy="6858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825501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7" descr="Uma imagem com texto, Tipo de letra, captura de ecrã, Retângul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587" y="6106336"/>
            <a:ext cx="1499615" cy="84340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7"/>
          <p:cNvSpPr txBox="1"/>
          <p:nvPr/>
        </p:nvSpPr>
        <p:spPr>
          <a:xfrm>
            <a:off x="2964000" y="180511"/>
            <a:ext cx="609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Máquina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vetores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suporte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(SVM)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7" name="Google Shape;247;p27"/>
          <p:cNvSpPr txBox="1"/>
          <p:nvPr/>
        </p:nvSpPr>
        <p:spPr>
          <a:xfrm>
            <a:off x="3129038" y="1820650"/>
            <a:ext cx="3497794" cy="24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 err="1">
                <a:solidFill>
                  <a:schemeClr val="dk1"/>
                </a:solidFill>
              </a:rPr>
              <a:t>Criar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previstos</a:t>
            </a:r>
            <a:r>
              <a:rPr lang="en-US" dirty="0">
                <a:solidFill>
                  <a:schemeClr val="dk1"/>
                </a:solidFill>
              </a:rPr>
              <a:t> para </a:t>
            </a:r>
            <a:r>
              <a:rPr lang="en-US" dirty="0" err="1">
                <a:solidFill>
                  <a:schemeClr val="dk1"/>
                </a:solidFill>
              </a:rPr>
              <a:t>cada</a:t>
            </a:r>
            <a:r>
              <a:rPr lang="en-US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um dos </a:t>
            </a:r>
            <a:r>
              <a:rPr lang="en-US" dirty="0" err="1">
                <a:solidFill>
                  <a:schemeClr val="dk1"/>
                </a:solidFill>
              </a:rPr>
              <a:t>melhores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modelos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relativamente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aos</a:t>
            </a:r>
            <a:r>
              <a:rPr lang="en-US" dirty="0">
                <a:solidFill>
                  <a:schemeClr val="dk1"/>
                </a:solidFill>
              </a:rPr>
              <a:t> dados de teste;</a:t>
            </a:r>
            <a:endParaRPr dirty="0">
              <a:solidFill>
                <a:schemeClr val="dk1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 err="1">
                <a:solidFill>
                  <a:schemeClr val="dk1"/>
                </a:solidFill>
              </a:rPr>
              <a:t>Retirar</a:t>
            </a:r>
            <a:r>
              <a:rPr lang="en-US" dirty="0">
                <a:solidFill>
                  <a:schemeClr val="dk1"/>
                </a:solidFill>
              </a:rPr>
              <a:t> a </a:t>
            </a:r>
            <a:r>
              <a:rPr lang="en-US" dirty="0" err="1">
                <a:solidFill>
                  <a:schemeClr val="dk1"/>
                </a:solidFill>
              </a:rPr>
              <a:t>normalização</a:t>
            </a:r>
            <a:r>
              <a:rPr lang="en-US" dirty="0">
                <a:solidFill>
                  <a:schemeClr val="dk1"/>
                </a:solidFill>
              </a:rPr>
              <a:t> para</a:t>
            </a:r>
            <a:endParaRPr dirty="0">
              <a:solidFill>
                <a:schemeClr val="dk1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para </a:t>
            </a:r>
            <a:r>
              <a:rPr lang="en-US" dirty="0" err="1">
                <a:solidFill>
                  <a:schemeClr val="dk1"/>
                </a:solidFill>
              </a:rPr>
              <a:t>colocar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previstos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na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escala</a:t>
            </a:r>
            <a:r>
              <a:rPr lang="en-US" dirty="0">
                <a:solidFill>
                  <a:schemeClr val="dk1"/>
                </a:solidFill>
              </a:rPr>
              <a:t> original;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248" name="Google Shape;24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8701" y="1820650"/>
            <a:ext cx="4858876" cy="4457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Google Shape;222;p25">
            <a:extLst>
              <a:ext uri="{FF2B5EF4-FFF2-40B4-BE49-F238E27FC236}">
                <a16:creationId xmlns:a16="http://schemas.microsoft.com/office/drawing/2014/main" id="{002D8C38-7F14-EFB2-FC1B-610ADE125F98}"/>
              </a:ext>
            </a:extLst>
          </p:cNvPr>
          <p:cNvSpPr txBox="1"/>
          <p:nvPr/>
        </p:nvSpPr>
        <p:spPr>
          <a:xfrm>
            <a:off x="282577" y="1670081"/>
            <a:ext cx="224472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/>
          <p:nvPr/>
        </p:nvSpPr>
        <p:spPr>
          <a:xfrm>
            <a:off x="0" y="0"/>
            <a:ext cx="2964000" cy="6858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825501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8" descr="Uma imagem com texto, Tipo de letra, captura de ecrã, Retângul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587" y="6106336"/>
            <a:ext cx="1499615" cy="843406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8"/>
          <p:cNvSpPr txBox="1"/>
          <p:nvPr/>
        </p:nvSpPr>
        <p:spPr>
          <a:xfrm>
            <a:off x="3040550" y="54529"/>
            <a:ext cx="6096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Máquina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vetores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suporte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(SVM)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graphicFrame>
        <p:nvGraphicFramePr>
          <p:cNvPr id="258" name="Google Shape;258;p28"/>
          <p:cNvGraphicFramePr/>
          <p:nvPr>
            <p:extLst>
              <p:ext uri="{D42A27DB-BD31-4B8C-83A1-F6EECF244321}">
                <p14:modId xmlns:p14="http://schemas.microsoft.com/office/powerpoint/2010/main" val="876273948"/>
              </p:ext>
            </p:extLst>
          </p:nvPr>
        </p:nvGraphicFramePr>
        <p:xfrm>
          <a:off x="3040550" y="3319400"/>
          <a:ext cx="8811925" cy="2349075"/>
        </p:xfrm>
        <a:graphic>
          <a:graphicData uri="http://schemas.openxmlformats.org/drawingml/2006/table">
            <a:tbl>
              <a:tblPr>
                <a:tableStyleId>{F65BD0AB-35EC-46CF-8008-AF1E710A26E6}</a:tableStyleId>
              </a:tblPr>
              <a:tblGrid>
                <a:gridCol w="14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5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8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Tune (Best Model)</a:t>
                      </a:r>
                      <a:endParaRPr sz="1100" b="1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Cost</a:t>
                      </a:r>
                      <a:endParaRPr sz="1100" b="1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Gamma</a:t>
                      </a:r>
                      <a:endParaRPr sz="1100" b="1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Epsilon</a:t>
                      </a:r>
                      <a:endParaRPr sz="1100" b="1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RMSE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MAPE (%)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20.27901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112.0884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0.10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20.27901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112.0884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0.10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20.27901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112.0884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0.10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0.06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1.00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20.27888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112.1552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0.10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20.22508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114.8019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9" name="Google Shape;259;p28"/>
          <p:cNvSpPr txBox="1"/>
          <p:nvPr/>
        </p:nvSpPr>
        <p:spPr>
          <a:xfrm>
            <a:off x="3040550" y="1100229"/>
            <a:ext cx="6941100" cy="26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 err="1">
                <a:solidFill>
                  <a:schemeClr val="dk1"/>
                </a:solidFill>
              </a:rPr>
              <a:t>Avaliação</a:t>
            </a:r>
            <a:r>
              <a:rPr lang="en-US" dirty="0">
                <a:solidFill>
                  <a:schemeClr val="dk1"/>
                </a:solidFill>
              </a:rPr>
              <a:t> da performance dos </a:t>
            </a:r>
            <a:r>
              <a:rPr lang="en-US" dirty="0" err="1">
                <a:solidFill>
                  <a:schemeClr val="dk1"/>
                </a:solidFill>
              </a:rPr>
              <a:t>modelos</a:t>
            </a:r>
            <a:r>
              <a:rPr lang="en-US" dirty="0">
                <a:solidFill>
                  <a:schemeClr val="dk1"/>
                </a:solidFill>
              </a:rPr>
              <a:t>: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dirty="0" err="1">
                <a:solidFill>
                  <a:schemeClr val="dk1"/>
                </a:solidFill>
              </a:rPr>
              <a:t>Cálcular</a:t>
            </a:r>
            <a:r>
              <a:rPr lang="en-US" dirty="0">
                <a:solidFill>
                  <a:schemeClr val="dk1"/>
                </a:solidFill>
              </a:rPr>
              <a:t> o RMSE (Root Mean Square Deviation) para </a:t>
            </a:r>
            <a:r>
              <a:rPr lang="en-US" dirty="0" err="1">
                <a:solidFill>
                  <a:schemeClr val="dk1"/>
                </a:solidFill>
              </a:rPr>
              <a:t>cada</a:t>
            </a:r>
            <a:r>
              <a:rPr lang="en-US" dirty="0">
                <a:solidFill>
                  <a:schemeClr val="dk1"/>
                </a:solidFill>
              </a:rPr>
              <a:t> “best model” de </a:t>
            </a:r>
            <a:r>
              <a:rPr lang="en-US" dirty="0" err="1">
                <a:solidFill>
                  <a:schemeClr val="dk1"/>
                </a:solidFill>
              </a:rPr>
              <a:t>cada</a:t>
            </a:r>
            <a:r>
              <a:rPr lang="en-US" dirty="0">
                <a:solidFill>
                  <a:schemeClr val="dk1"/>
                </a:solidFill>
              </a:rPr>
              <a:t> um dos “tunes” </a:t>
            </a:r>
            <a:r>
              <a:rPr lang="en-US" dirty="0" err="1">
                <a:solidFill>
                  <a:schemeClr val="dk1"/>
                </a:solidFill>
              </a:rPr>
              <a:t>executados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sobre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os</a:t>
            </a:r>
            <a:r>
              <a:rPr lang="en-US" dirty="0">
                <a:solidFill>
                  <a:schemeClr val="dk1"/>
                </a:solidFill>
              </a:rPr>
              <a:t> dados de teste;</a:t>
            </a:r>
            <a:endParaRPr dirty="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dirty="0" err="1">
                <a:solidFill>
                  <a:schemeClr val="dk1"/>
                </a:solidFill>
              </a:rPr>
              <a:t>Cálcular</a:t>
            </a:r>
            <a:r>
              <a:rPr lang="en-US" dirty="0">
                <a:solidFill>
                  <a:schemeClr val="dk1"/>
                </a:solidFill>
              </a:rPr>
              <a:t> o MAPE (Mean Absolute Percentage Error) para </a:t>
            </a:r>
            <a:r>
              <a:rPr lang="en-US" dirty="0" err="1">
                <a:solidFill>
                  <a:schemeClr val="dk1"/>
                </a:solidFill>
              </a:rPr>
              <a:t>cada</a:t>
            </a:r>
            <a:r>
              <a:rPr lang="en-US" dirty="0">
                <a:solidFill>
                  <a:schemeClr val="dk1"/>
                </a:solidFill>
              </a:rPr>
              <a:t> “best model” de </a:t>
            </a:r>
            <a:r>
              <a:rPr lang="en-US" dirty="0" err="1">
                <a:solidFill>
                  <a:schemeClr val="dk1"/>
                </a:solidFill>
              </a:rPr>
              <a:t>cada</a:t>
            </a:r>
            <a:r>
              <a:rPr lang="en-US" dirty="0">
                <a:solidFill>
                  <a:schemeClr val="dk1"/>
                </a:solidFill>
              </a:rPr>
              <a:t> um dos “tunes” </a:t>
            </a:r>
            <a:r>
              <a:rPr lang="en-US" dirty="0" err="1">
                <a:solidFill>
                  <a:schemeClr val="dk1"/>
                </a:solidFill>
              </a:rPr>
              <a:t>executados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sobre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os</a:t>
            </a:r>
            <a:r>
              <a:rPr lang="en-US" dirty="0">
                <a:solidFill>
                  <a:schemeClr val="dk1"/>
                </a:solidFill>
              </a:rPr>
              <a:t> dados de teste;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" name="Google Shape;222;p25">
            <a:extLst>
              <a:ext uri="{FF2B5EF4-FFF2-40B4-BE49-F238E27FC236}">
                <a16:creationId xmlns:a16="http://schemas.microsoft.com/office/drawing/2014/main" id="{07E0DF18-D895-758D-3691-A0B9334A100E}"/>
              </a:ext>
            </a:extLst>
          </p:cNvPr>
          <p:cNvSpPr txBox="1"/>
          <p:nvPr/>
        </p:nvSpPr>
        <p:spPr>
          <a:xfrm>
            <a:off x="282577" y="1670081"/>
            <a:ext cx="224472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9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9"/>
          <p:cNvSpPr txBox="1"/>
          <p:nvPr/>
        </p:nvSpPr>
        <p:spPr>
          <a:xfrm>
            <a:off x="4771176" y="287429"/>
            <a:ext cx="70493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9"/>
          <p:cNvSpPr txBox="1"/>
          <p:nvPr/>
        </p:nvSpPr>
        <p:spPr>
          <a:xfrm>
            <a:off x="-12" y="1270008"/>
            <a:ext cx="609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Comparação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entre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modelos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(Boosting)</a:t>
            </a:r>
            <a:endParaRPr sz="19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69" name="Google Shape;26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70" y="2157277"/>
            <a:ext cx="6135118" cy="3858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1922" y="2169998"/>
            <a:ext cx="5748708" cy="3858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0"/>
          <p:cNvSpPr/>
          <p:nvPr/>
        </p:nvSpPr>
        <p:spPr>
          <a:xfrm>
            <a:off x="0" y="0"/>
            <a:ext cx="12192000" cy="12699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2577397" cy="37764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0"/>
          <p:cNvSpPr txBox="1"/>
          <p:nvPr/>
        </p:nvSpPr>
        <p:spPr>
          <a:xfrm>
            <a:off x="4734962" y="287429"/>
            <a:ext cx="70855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0"/>
          <p:cNvSpPr txBox="1"/>
          <p:nvPr/>
        </p:nvSpPr>
        <p:spPr>
          <a:xfrm>
            <a:off x="-12" y="1270008"/>
            <a:ext cx="83020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Comparação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entre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modelos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(Redes </a:t>
            </a:r>
            <a:r>
              <a:rPr lang="en-US" sz="2400" b="1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Neuronais</a:t>
            </a: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SVM)</a:t>
            </a:r>
            <a:endParaRPr sz="19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80" name="Google Shape;28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988" y="2043723"/>
            <a:ext cx="5862625" cy="36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F002B25-A7B9-E3BE-200E-95DA4CBC3C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" y="2020532"/>
            <a:ext cx="6096000" cy="381794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/>
          <p:nvPr/>
        </p:nvSpPr>
        <p:spPr>
          <a:xfrm>
            <a:off x="0" y="0"/>
            <a:ext cx="2964000" cy="6858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64" y="287429"/>
            <a:ext cx="825501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8" descr="Uma imagem com texto, Tipo de letra, captura de ecrã, Retângul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587" y="6106336"/>
            <a:ext cx="1499615" cy="84340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9966AA5-4AFE-B2C2-5B2E-2FC704E24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859944"/>
              </p:ext>
            </p:extLst>
          </p:nvPr>
        </p:nvGraphicFramePr>
        <p:xfrm>
          <a:off x="3176333" y="1296035"/>
          <a:ext cx="8733090" cy="1112520"/>
        </p:xfrm>
        <a:graphic>
          <a:graphicData uri="http://schemas.openxmlformats.org/drawingml/2006/table">
            <a:tbl>
              <a:tblPr firstRow="1" bandRow="1">
                <a:tableStyleId>{F65BD0AB-35EC-46CF-8008-AF1E710A26E6}</a:tableStyleId>
              </a:tblPr>
              <a:tblGrid>
                <a:gridCol w="1397342">
                  <a:extLst>
                    <a:ext uri="{9D8B030D-6E8A-4147-A177-3AD203B41FA5}">
                      <a16:colId xmlns:a16="http://schemas.microsoft.com/office/drawing/2014/main" val="1379057427"/>
                    </a:ext>
                  </a:extLst>
                </a:gridCol>
                <a:gridCol w="1859623">
                  <a:extLst>
                    <a:ext uri="{9D8B030D-6E8A-4147-A177-3AD203B41FA5}">
                      <a16:colId xmlns:a16="http://schemas.microsoft.com/office/drawing/2014/main" val="4038321357"/>
                    </a:ext>
                  </a:extLst>
                </a:gridCol>
                <a:gridCol w="2517168">
                  <a:extLst>
                    <a:ext uri="{9D8B030D-6E8A-4147-A177-3AD203B41FA5}">
                      <a16:colId xmlns:a16="http://schemas.microsoft.com/office/drawing/2014/main" val="3327471079"/>
                    </a:ext>
                  </a:extLst>
                </a:gridCol>
                <a:gridCol w="2958957">
                  <a:extLst>
                    <a:ext uri="{9D8B030D-6E8A-4147-A177-3AD203B41FA5}">
                      <a16:colId xmlns:a16="http://schemas.microsoft.com/office/drawing/2014/main" val="179001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 err="1"/>
                        <a:t>Boosting</a:t>
                      </a:r>
                      <a:endParaRPr lang="pt-PT" b="1" dirty="0"/>
                    </a:p>
                  </a:txBody>
                  <a:tcPr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Redes neuronais artificiais</a:t>
                      </a:r>
                    </a:p>
                  </a:txBody>
                  <a:tcPr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chemeClr val="dk1"/>
                          </a:solidFill>
                          <a:sym typeface="Arial"/>
                        </a:rPr>
                        <a:t>Máquina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sym typeface="Arial"/>
                        </a:rPr>
                        <a:t> de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sym typeface="Arial"/>
                        </a:rPr>
                        <a:t>vetores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sym typeface="Arial"/>
                        </a:rPr>
                        <a:t> de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sym typeface="Arial"/>
                        </a:rPr>
                        <a:t>suporte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sym typeface="Arial"/>
                        </a:rPr>
                        <a:t> </a:t>
                      </a:r>
                      <a:endParaRPr lang="pt-PT" b="1" dirty="0"/>
                    </a:p>
                  </a:txBody>
                  <a:tcPr anchor="ctr">
                    <a:solidFill>
                      <a:srgbClr val="F6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913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RMSE</a:t>
                      </a:r>
                    </a:p>
                  </a:txBody>
                  <a:tcPr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20.22463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20.10456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20.22508</a:t>
                      </a:r>
                      <a:endParaRPr lang="pt-P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2884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MAPE</a:t>
                      </a:r>
                    </a:p>
                  </a:txBody>
                  <a:tcPr anchor="ctr">
                    <a:solidFill>
                      <a:srgbClr val="F6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effectLst/>
                        </a:rPr>
                        <a:t>108.9634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113.1766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114.8019</a:t>
                      </a:r>
                      <a:endParaRPr lang="pt-P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394027"/>
                  </a:ext>
                </a:extLst>
              </a:tr>
            </a:tbl>
          </a:graphicData>
        </a:graphic>
      </p:graphicFrame>
      <p:sp>
        <p:nvSpPr>
          <p:cNvPr id="5" name="Google Shape;116;p16">
            <a:extLst>
              <a:ext uri="{FF2B5EF4-FFF2-40B4-BE49-F238E27FC236}">
                <a16:creationId xmlns:a16="http://schemas.microsoft.com/office/drawing/2014/main" id="{62F8BD2B-216B-833D-1857-25A9E0437C4B}"/>
              </a:ext>
            </a:extLst>
          </p:cNvPr>
          <p:cNvSpPr txBox="1"/>
          <p:nvPr/>
        </p:nvSpPr>
        <p:spPr>
          <a:xfrm>
            <a:off x="3143881" y="2800715"/>
            <a:ext cx="8733090" cy="375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pt-PT" dirty="0">
                <a:solidFill>
                  <a:schemeClr val="dk1"/>
                </a:solidFill>
              </a:rPr>
              <a:t>Tendo em conta os gráficos observados e aos valores de RMSE e MAPE, consegue-se perceber que:</a:t>
            </a:r>
          </a:p>
          <a:p>
            <a:pPr marL="285750" indent="-285750" algn="just">
              <a:buFont typeface="Arial"/>
              <a:buChar char="•"/>
            </a:pPr>
            <a:endParaRPr lang="pt-PT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PT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Redes neuronais artificiais tem o </a:t>
            </a:r>
            <a:r>
              <a:rPr lang="pt-PT" b="0" i="0" u="none" strike="noStrike" cap="none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menor 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RMSE</a:t>
            </a:r>
            <a:endParaRPr lang="pt-PT" b="0" i="0" u="none" strike="noStrike" cap="none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Arial"/>
            </a:endParaRPr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pt-PT" dirty="0">
              <a:solidFill>
                <a:schemeClr val="dk1"/>
              </a:solidFill>
            </a:endParaRPr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PT" dirty="0" err="1">
                <a:solidFill>
                  <a:schemeClr val="dk1"/>
                </a:solidFill>
              </a:rPr>
              <a:t>Boosting</a:t>
            </a:r>
            <a:r>
              <a:rPr lang="pt-PT" dirty="0">
                <a:solidFill>
                  <a:schemeClr val="dk1"/>
                </a:solidFill>
              </a:rPr>
              <a:t> tem o </a:t>
            </a:r>
            <a:r>
              <a:rPr lang="pt-PT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menor MAPE</a:t>
            </a:r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pt-PT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PT" dirty="0">
                <a:solidFill>
                  <a:schemeClr val="dk1"/>
                </a:solidFill>
              </a:rPr>
              <a:t>SVM apresenta o </a:t>
            </a:r>
            <a:r>
              <a:rPr lang="pt-PT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maior RMSE e MAPE</a:t>
            </a:r>
          </a:p>
          <a:p>
            <a:pPr algn="just"/>
            <a:endParaRPr lang="pt-PT" dirty="0">
              <a:solidFill>
                <a:schemeClr val="dk1"/>
              </a:solidFill>
            </a:endParaRPr>
          </a:p>
          <a:p>
            <a:pPr marL="285750" lvl="1" indent="-285750" algn="just">
              <a:buFont typeface="Arial"/>
              <a:buChar char="•"/>
            </a:pPr>
            <a:r>
              <a:rPr lang="pt-PT" dirty="0">
                <a:solidFill>
                  <a:schemeClr val="dk1"/>
                </a:solidFill>
              </a:rPr>
              <a:t>Deste modo, em termos de performance, os modelos preditivos apresentam capacidade preditiva semelhante.</a:t>
            </a:r>
          </a:p>
          <a:p>
            <a:pPr marL="285750" lvl="1" indent="-285750" algn="just">
              <a:buFont typeface="Arial"/>
              <a:buChar char="•"/>
            </a:pPr>
            <a:endParaRPr lang="pt-PT" dirty="0">
              <a:solidFill>
                <a:schemeClr val="dk1"/>
              </a:solidFill>
            </a:endParaRPr>
          </a:p>
          <a:p>
            <a:pPr marL="285750" lvl="1" indent="-285750" algn="just">
              <a:buFont typeface="Arial"/>
              <a:buChar char="•"/>
            </a:pPr>
            <a:r>
              <a:rPr lang="pt-PT" dirty="0">
                <a:solidFill>
                  <a:schemeClr val="dk1"/>
                </a:solidFill>
              </a:rPr>
              <a:t>Contudo, SVM é excluído devido à sua exigência computacional.</a:t>
            </a:r>
          </a:p>
          <a:p>
            <a:pPr marL="285750" lvl="1" indent="-285750" algn="just">
              <a:buFont typeface="Arial"/>
              <a:buChar char="•"/>
            </a:pPr>
            <a:endParaRPr lang="pt-PT" dirty="0">
              <a:solidFill>
                <a:schemeClr val="dk1"/>
              </a:solidFill>
            </a:endParaRPr>
          </a:p>
          <a:p>
            <a:pPr marL="285750" lvl="1" indent="-285750" algn="just">
              <a:buFont typeface="Arial"/>
              <a:buChar char="•"/>
            </a:pPr>
            <a:r>
              <a:rPr lang="pt-PT" dirty="0">
                <a:solidFill>
                  <a:schemeClr val="dk1"/>
                </a:solidFill>
              </a:rPr>
              <a:t>Em relação a rede neuronais </a:t>
            </a:r>
            <a:r>
              <a:rPr lang="pt-PT" dirty="0" err="1">
                <a:solidFill>
                  <a:schemeClr val="dk1"/>
                </a:solidFill>
              </a:rPr>
              <a:t>artificais</a:t>
            </a:r>
            <a:r>
              <a:rPr lang="pt-PT" dirty="0">
                <a:solidFill>
                  <a:schemeClr val="dk1"/>
                </a:solidFill>
              </a:rPr>
              <a:t> e </a:t>
            </a:r>
            <a:r>
              <a:rPr lang="pt-PT" dirty="0" err="1">
                <a:solidFill>
                  <a:schemeClr val="dk1"/>
                </a:solidFill>
              </a:rPr>
              <a:t>boosting</a:t>
            </a:r>
            <a:r>
              <a:rPr lang="pt-PT" dirty="0">
                <a:solidFill>
                  <a:schemeClr val="dk1"/>
                </a:solidFill>
              </a:rPr>
              <a:t>, dado que em rede neuronais a melhor performance foi o modelo mais simples, a exigência computacional entre os dois é semelhante.</a:t>
            </a:r>
          </a:p>
          <a:p>
            <a:pPr marL="285750" lvl="1" indent="-285750" algn="just">
              <a:buFont typeface="Arial"/>
              <a:buChar char="•"/>
            </a:pPr>
            <a:endParaRPr lang="pt-PT" dirty="0">
              <a:solidFill>
                <a:schemeClr val="dk1"/>
              </a:solidFill>
            </a:endParaRPr>
          </a:p>
          <a:p>
            <a:pPr marL="285750" lvl="1" indent="-285750" algn="just">
              <a:buFont typeface="Arial"/>
              <a:buChar char="•"/>
            </a:pPr>
            <a:r>
              <a:rPr lang="pt-PT" dirty="0">
                <a:solidFill>
                  <a:schemeClr val="dk1"/>
                </a:solidFill>
              </a:rPr>
              <a:t>No free </a:t>
            </a:r>
            <a:r>
              <a:rPr lang="pt-PT" dirty="0" err="1">
                <a:solidFill>
                  <a:schemeClr val="dk1"/>
                </a:solidFill>
              </a:rPr>
              <a:t>lunch</a:t>
            </a:r>
            <a:r>
              <a:rPr lang="pt-PT" dirty="0">
                <a:solidFill>
                  <a:schemeClr val="dk1"/>
                </a:solidFill>
              </a:rPr>
              <a:t>!</a:t>
            </a:r>
          </a:p>
        </p:txBody>
      </p:sp>
      <p:sp>
        <p:nvSpPr>
          <p:cNvPr id="4" name="Google Shape;222;p25">
            <a:extLst>
              <a:ext uri="{FF2B5EF4-FFF2-40B4-BE49-F238E27FC236}">
                <a16:creationId xmlns:a16="http://schemas.microsoft.com/office/drawing/2014/main" id="{80F348C5-2F35-CDE3-DD48-D076F9C08A2D}"/>
              </a:ext>
            </a:extLst>
          </p:cNvPr>
          <p:cNvSpPr txBox="1"/>
          <p:nvPr/>
        </p:nvSpPr>
        <p:spPr>
          <a:xfrm>
            <a:off x="282577" y="1670081"/>
            <a:ext cx="224472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preditivos da popularidade de músicas</a:t>
            </a:r>
            <a:endParaRPr lang="pt-PT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57;p28">
            <a:extLst>
              <a:ext uri="{FF2B5EF4-FFF2-40B4-BE49-F238E27FC236}">
                <a16:creationId xmlns:a16="http://schemas.microsoft.com/office/drawing/2014/main" id="{E8A574A5-E206-04E4-B4DD-C72E2ABA4C64}"/>
              </a:ext>
            </a:extLst>
          </p:cNvPr>
          <p:cNvSpPr txBox="1"/>
          <p:nvPr/>
        </p:nvSpPr>
        <p:spPr>
          <a:xfrm>
            <a:off x="3229070" y="94567"/>
            <a:ext cx="6096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PT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Discussão e Conclusão</a:t>
            </a:r>
            <a:endParaRPr sz="2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76650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D50A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2" descr="Uma imagem com texto, Tipo de letra, Gráficos, captura de ecrã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7312" y="2897270"/>
            <a:ext cx="6437376" cy="1063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1419</Words>
  <Application>Microsoft Office PowerPoint</Application>
  <PresentationFormat>Ecrã Panorâmico</PresentationFormat>
  <Paragraphs>468</Paragraphs>
  <Slides>35</Slides>
  <Notes>35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35</vt:i4>
      </vt:variant>
    </vt:vector>
  </HeadingPairs>
  <TitlesOfParts>
    <vt:vector size="38" baseType="lpstr">
      <vt:lpstr>Arial</vt:lpstr>
      <vt:lpstr>Play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Ilda Moreira</cp:lastModifiedBy>
  <cp:revision>65</cp:revision>
  <dcterms:modified xsi:type="dcterms:W3CDTF">2024-05-31T22:08:21Z</dcterms:modified>
</cp:coreProperties>
</file>